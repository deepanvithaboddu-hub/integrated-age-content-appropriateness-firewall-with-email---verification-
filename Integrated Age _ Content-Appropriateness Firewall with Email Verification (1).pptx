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6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54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svg"/><Relationship Id="rId12" Type="http://schemas.openxmlformats.org/officeDocument/2006/relationships/image" Target="../media/image4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svg"/><Relationship Id="rId11" Type="http://schemas.openxmlformats.org/officeDocument/2006/relationships/image" Target="../media/image48.svg"/><Relationship Id="rId5" Type="http://schemas.openxmlformats.org/officeDocument/2006/relationships/image" Target="../media/image42.sv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420">
              <a:alpha val="7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793936" y="1530548"/>
            <a:ext cx="352425" cy="14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3"/>
          <p:cNvSpPr/>
          <p:nvPr/>
        </p:nvSpPr>
        <p:spPr>
          <a:xfrm>
            <a:off x="3231342" y="1451967"/>
            <a:ext cx="268128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MAJOR PROJECT · 4TH YEAR CSM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997611" y="1530548"/>
            <a:ext cx="352425" cy="14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1238250" y="1757606"/>
            <a:ext cx="6667500" cy="681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88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INTEGRATED AGE / CONTENT-APPROPRIATENESS FIREWALL WITH </a:t>
            </a:r>
          </a:p>
          <a:p>
            <a:pPr marL="0" indent="0" algn="ctr">
              <a:lnSpc>
                <a:spcPts val="2688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E-MAIL VERIFICATION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662359" y="2572585"/>
            <a:ext cx="181927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1"/>
              </a:lnSpc>
              <a:spcBef>
                <a:spcPts val="1050"/>
              </a:spcBef>
              <a:buNone/>
            </a:pP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50243" y="3067645"/>
            <a:ext cx="5043488" cy="395287"/>
          </a:xfrm>
          <a:prstGeom prst="rect">
            <a:avLst/>
          </a:prstGeom>
          <a:solidFill>
            <a:srgbClr val="0F172A">
              <a:alpha val="8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250268" y="3179564"/>
            <a:ext cx="357188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22769" y="3193852"/>
            <a:ext cx="4763" cy="1428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2842481" y="3172420"/>
            <a:ext cx="4067175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B. Deepanvitha · S. Mounika · B. Karthikeya · S. Dinesh Karthik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848974" y="4429125"/>
            <a:ext cx="1771650" cy="409575"/>
          </a:xfrm>
          <a:prstGeom prst="rect">
            <a:avLst/>
          </a:prstGeom>
          <a:ln/>
        </p:spPr>
      </p:sp>
      <p:sp>
        <p:nvSpPr>
          <p:cNvPr id="15" name="Text 12"/>
          <p:cNvSpPr/>
          <p:nvPr/>
        </p:nvSpPr>
        <p:spPr>
          <a:xfrm>
            <a:off x="6849191" y="4429125"/>
            <a:ext cx="1652587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THE GUIDANCE OF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106476" y="4624387"/>
            <a:ext cx="1395412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Mrs. Shanti Kumari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24132" y="4667250"/>
            <a:ext cx="20002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DIGITAL CONTENT ACCESS</a:t>
            </a:r>
            <a:endParaRPr lang="en-US" sz="7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0243" y="3067645"/>
            <a:ext cx="5043488" cy="395287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8974" y="4429125"/>
            <a:ext cx="1771650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420"/>
          </a:solidFill>
          <a:ln/>
        </p:spPr>
      </p:sp>
      <p:sp>
        <p:nvSpPr>
          <p:cNvPr id="4" name="Text 2"/>
          <p:cNvSpPr/>
          <p:nvPr/>
        </p:nvSpPr>
        <p:spPr>
          <a:xfrm>
            <a:off x="515148" y="370988"/>
            <a:ext cx="79057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ABSTRACT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3931" y="576328"/>
            <a:ext cx="695325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Age-aware access, enforced at every gate.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14350" y="1029807"/>
            <a:ext cx="533400" cy="28575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514350" y="1629327"/>
            <a:ext cx="5762625" cy="31718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809625" y="2010814"/>
            <a:ext cx="5172075" cy="11287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76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Modern school networks require Internet-access policies that reflect different age groups. The proposed system combines firewall enforcement, proxy-based web filtering, content classification, age-based rules, and email-domain verification within a single controlled pipeline.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9625" y="3300451"/>
            <a:ext cx="5172075" cy="11287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76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requests are processed through a Python proxy and categorized URL sources such as Shalla’s Blacklists. Email signup is checked through syntax validation, DNS/MX lookup, and disposable-domain lists; blocked decisions are logged for monitoring, reporting, and policy tuning.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1775" y="1629327"/>
            <a:ext cx="2047875" cy="3171825"/>
          </a:xfrm>
          <a:prstGeom prst="rect">
            <a:avLst/>
          </a:prstGeom>
          <a:solidFill>
            <a:srgbClr val="10263A"/>
          </a:solidFill>
          <a:ln/>
        </p:spPr>
      </p:sp>
      <p:sp>
        <p:nvSpPr>
          <p:cNvPr id="11" name="Text 9"/>
          <p:cNvSpPr/>
          <p:nvPr/>
        </p:nvSpPr>
        <p:spPr>
          <a:xfrm>
            <a:off x="6762750" y="1830854"/>
            <a:ext cx="16859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975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FOCUS</a:t>
            </a:r>
            <a:endParaRPr lang="en-US" sz="8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2079454"/>
            <a:ext cx="133350" cy="1333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72300" y="2079454"/>
            <a:ext cx="1476375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9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Blocking effectiveness and policy accuracy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2493792"/>
            <a:ext cx="133350" cy="1333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72300" y="2493792"/>
            <a:ext cx="1476375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9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Latency overhead and throughput</a:t>
            </a:r>
            <a:endParaRPr lang="en-US" sz="9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0" y="2908129"/>
            <a:ext cx="133350" cy="133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72300" y="2906939"/>
            <a:ext cx="1476375" cy="466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9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False positives, negatives, and robustness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762750" y="4018547"/>
            <a:ext cx="1685925" cy="590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occurs in a controlled campus-network environment.</a:t>
            </a:r>
            <a:endParaRPr lang="en-US" sz="8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2750" y="4018547"/>
            <a:ext cx="1685925" cy="590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420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370988"/>
            <a:ext cx="80010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/ 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1500" y="576330"/>
            <a:ext cx="80010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policy cannot fit every learner.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71500" y="992656"/>
            <a:ext cx="53340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secure campus network needs layered controls that adapt to people, devices, and context.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" y="2295525"/>
            <a:ext cx="247650" cy="24765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56" y="2355056"/>
            <a:ext cx="128588" cy="128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2867" y="2295038"/>
            <a:ext cx="495300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Layered enforcement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42867" y="2528982"/>
            <a:ext cx="4953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Firewall leads; the proxy extracts URL and domain signals for policy decisions.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42975" y="2863425"/>
            <a:ext cx="5181600" cy="4763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3030113"/>
            <a:ext cx="247650" cy="247650"/>
          </a:xfrm>
          <a:prstGeom prst="rect">
            <a:avLst/>
          </a:prstGeom>
          <a:solidFill>
            <a:srgbClr val="17163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56" y="3089644"/>
            <a:ext cx="128588" cy="128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42975" y="3029626"/>
            <a:ext cx="518160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Age-aware access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42975" y="3262257"/>
            <a:ext cx="51816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Classification supports different needs across primary, secondary, senior students, and staff.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942975" y="3771602"/>
            <a:ext cx="5181600" cy="4763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7" name="Shape 13"/>
          <p:cNvSpPr/>
          <p:nvPr/>
        </p:nvSpPr>
        <p:spPr>
          <a:xfrm>
            <a:off x="571500" y="3938290"/>
            <a:ext cx="247650" cy="247650"/>
          </a:xfrm>
          <a:prstGeom prst="rect">
            <a:avLst/>
          </a:prstGeom>
          <a:solidFill>
            <a:srgbClr val="102A2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56" y="3997821"/>
            <a:ext cx="128588" cy="128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2975" y="3937803"/>
            <a:ext cx="518160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Accountability by design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42975" y="4170434"/>
            <a:ext cx="51816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Email-domain verification and centralized logs create traceable, auditable access control.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524625" y="2013657"/>
            <a:ext cx="2047875" cy="2786063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17"/>
          <p:cNvSpPr/>
          <p:nvPr/>
        </p:nvSpPr>
        <p:spPr>
          <a:xfrm>
            <a:off x="6705600" y="2218079"/>
            <a:ext cx="16859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SCOPE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705600" y="2455975"/>
            <a:ext cx="1685925" cy="6429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2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Controlled school and campus networks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705600" y="3211439"/>
            <a:ext cx="1685925" cy="5191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9"/>
              </a:lnSpc>
              <a:buNone/>
            </a:pPr>
            <a:r>
              <a:rPr lang="en-US" sz="9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for mixed device environments and structured access decisions.</a:t>
            </a:r>
            <a:endParaRPr lang="en-US" sz="9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0" y="4423874"/>
            <a:ext cx="119062" cy="11906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91337" y="4347675"/>
            <a:ext cx="1500188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Traceability supports review and audits.</a:t>
            </a:r>
            <a:endParaRPr lang="en-US" sz="8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1500" y="2295525"/>
            <a:ext cx="247650" cy="247650"/>
          </a:xfrm>
          <a:prstGeom prst="rect">
            <a:avLst/>
          </a:prstGeom>
        </p:spPr>
      </p:pic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" y="3030113"/>
            <a:ext cx="247650" cy="247650"/>
          </a:xfrm>
          <a:prstGeom prst="rect">
            <a:avLst/>
          </a:prstGeom>
        </p:spPr>
      </p:pic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1500" y="3938290"/>
            <a:ext cx="247650" cy="247650"/>
          </a:xfrm>
          <a:prstGeom prst="rect">
            <a:avLst/>
          </a:prstGeom>
        </p:spPr>
      </p:pic>
      <p:pic>
        <p:nvPicPr>
          <p:cNvPr id="3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24625" y="2013657"/>
            <a:ext cx="2047875" cy="2786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6A22833A-8BBA-C7DD-7A6E-98F90CEFBC4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420"/>
          </a:solidFill>
          <a:ln/>
        </p:spPr>
        <p:txBody>
          <a:bodyPr/>
          <a:lstStyle/>
          <a:p>
            <a:r>
              <a:rPr lang="en-US" sz="2800" b="1" dirty="0"/>
              <a:t>  </a:t>
            </a:r>
          </a:p>
          <a:p>
            <a:r>
              <a:rPr lang="en-US" sz="2800" b="1" dirty="0"/>
              <a:t>  </a:t>
            </a:r>
            <a:r>
              <a:rPr lang="en-US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Literature survey</a:t>
            </a:r>
            <a:endParaRPr lang="en-US" dirty="0"/>
          </a:p>
          <a:p>
            <a:endParaRPr lang="en-US" sz="1200" dirty="0">
              <a:solidFill>
                <a:srgbClr val="00B0F0"/>
              </a:solidFill>
            </a:endParaRPr>
          </a:p>
        </p:txBody>
      </p:sp>
      <p:grpSp>
        <p:nvGrpSpPr>
          <p:cNvPr id="4" name="object 17">
            <a:extLst>
              <a:ext uri="{FF2B5EF4-FFF2-40B4-BE49-F238E27FC236}">
                <a16:creationId xmlns:a16="http://schemas.microsoft.com/office/drawing/2014/main" id="{DF17809F-B07C-8697-DA2E-8CE1CA4193BC}"/>
              </a:ext>
            </a:extLst>
          </p:cNvPr>
          <p:cNvGrpSpPr/>
          <p:nvPr/>
        </p:nvGrpSpPr>
        <p:grpSpPr>
          <a:xfrm>
            <a:off x="6238875" y="1479619"/>
            <a:ext cx="2476500" cy="2828925"/>
            <a:chOff x="6210300" y="1962150"/>
            <a:chExt cx="2476500" cy="2828925"/>
          </a:xfrm>
        </p:grpSpPr>
        <p:sp>
          <p:nvSpPr>
            <p:cNvPr id="5" name="object 18">
              <a:extLst>
                <a:ext uri="{FF2B5EF4-FFF2-40B4-BE49-F238E27FC236}">
                  <a16:creationId xmlns:a16="http://schemas.microsoft.com/office/drawing/2014/main" id="{3F2207AC-1780-55BD-2A00-F7B9E16F19DB}"/>
                </a:ext>
              </a:extLst>
            </p:cNvPr>
            <p:cNvSpPr/>
            <p:nvPr/>
          </p:nvSpPr>
          <p:spPr>
            <a:xfrm>
              <a:off x="6210300" y="1962150"/>
              <a:ext cx="2476500" cy="2828925"/>
            </a:xfrm>
            <a:custGeom>
              <a:avLst/>
              <a:gdLst/>
              <a:ahLst/>
              <a:cxnLst/>
              <a:rect l="l" t="t" r="r" b="b"/>
              <a:pathLst>
                <a:path w="2476500" h="2828925">
                  <a:moveTo>
                    <a:pt x="2437817" y="2828925"/>
                  </a:moveTo>
                  <a:lnTo>
                    <a:pt x="38682" y="2828925"/>
                  </a:lnTo>
                  <a:lnTo>
                    <a:pt x="30964" y="2828216"/>
                  </a:lnTo>
                  <a:lnTo>
                    <a:pt x="707" y="2797960"/>
                  </a:lnTo>
                  <a:lnTo>
                    <a:pt x="0" y="2790242"/>
                  </a:lnTo>
                  <a:lnTo>
                    <a:pt x="0" y="38682"/>
                  </a:lnTo>
                  <a:lnTo>
                    <a:pt x="23833" y="2832"/>
                  </a:lnTo>
                  <a:lnTo>
                    <a:pt x="38682" y="0"/>
                  </a:lnTo>
                  <a:lnTo>
                    <a:pt x="2437817" y="0"/>
                  </a:lnTo>
                  <a:lnTo>
                    <a:pt x="2473667" y="23833"/>
                  </a:lnTo>
                  <a:lnTo>
                    <a:pt x="2476500" y="38682"/>
                  </a:lnTo>
                  <a:lnTo>
                    <a:pt x="2476500" y="2790242"/>
                  </a:lnTo>
                  <a:lnTo>
                    <a:pt x="2452666" y="2826092"/>
                  </a:lnTo>
                  <a:lnTo>
                    <a:pt x="2437817" y="2828925"/>
                  </a:lnTo>
                  <a:close/>
                </a:path>
              </a:pathLst>
            </a:custGeom>
            <a:solidFill>
              <a:srgbClr val="0F766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" name="object 19">
              <a:extLst>
                <a:ext uri="{FF2B5EF4-FFF2-40B4-BE49-F238E27FC236}">
                  <a16:creationId xmlns:a16="http://schemas.microsoft.com/office/drawing/2014/main" id="{8CDDD78B-17D2-E12E-8A84-F68106DB3FF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0325" y="2190750"/>
              <a:ext cx="247650" cy="24765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87A0CEC-8509-0D9A-E020-99C7D492B2C6}"/>
              </a:ext>
            </a:extLst>
          </p:cNvPr>
          <p:cNvSpPr txBox="1"/>
          <p:nvPr/>
        </p:nvSpPr>
        <p:spPr>
          <a:xfrm>
            <a:off x="1927274" y="149117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9E0A06-EAC0-92F5-1FF1-631C7B7D4EFA}"/>
              </a:ext>
            </a:extLst>
          </p:cNvPr>
          <p:cNvSpPr txBox="1"/>
          <p:nvPr/>
        </p:nvSpPr>
        <p:spPr>
          <a:xfrm>
            <a:off x="6686550" y="2059388"/>
            <a:ext cx="16383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900" b="1" dirty="0">
                <a:solidFill>
                  <a:srgbClr val="D9F7F3"/>
                </a:solidFill>
                <a:latin typeface="Roboto"/>
                <a:cs typeface="Roboto"/>
              </a:rPr>
              <a:t>IDENTIFIED</a:t>
            </a:r>
            <a:r>
              <a:rPr lang="en-IN" sz="900" b="1" spc="-45" dirty="0">
                <a:solidFill>
                  <a:srgbClr val="D9F7F3"/>
                </a:solidFill>
                <a:latin typeface="Roboto"/>
                <a:cs typeface="Roboto"/>
              </a:rPr>
              <a:t> </a:t>
            </a:r>
            <a:r>
              <a:rPr lang="en-IN" sz="900" b="1" spc="-10" dirty="0">
                <a:solidFill>
                  <a:srgbClr val="D9F7F3"/>
                </a:solidFill>
                <a:latin typeface="Roboto"/>
                <a:cs typeface="Roboto"/>
              </a:rPr>
              <a:t>LIMITATION</a:t>
            </a:r>
            <a:endParaRPr lang="en-IN" sz="900" dirty="0">
              <a:latin typeface="Roboto"/>
              <a:cs typeface="Robot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0EA7CF-E357-E1BF-D963-60F08A211BF4}"/>
              </a:ext>
            </a:extLst>
          </p:cNvPr>
          <p:cNvSpPr txBox="1"/>
          <p:nvPr/>
        </p:nvSpPr>
        <p:spPr>
          <a:xfrm>
            <a:off x="6481762" y="2525711"/>
            <a:ext cx="1990725" cy="736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just">
              <a:lnSpc>
                <a:spcPts val="1650"/>
              </a:lnSpc>
              <a:spcBef>
                <a:spcPts val="180"/>
              </a:spcBef>
            </a:pPr>
            <a:r>
              <a:rPr lang="en-US" sz="1400" b="1" dirty="0">
                <a:solidFill>
                  <a:srgbClr val="FFFFFF"/>
                </a:solidFill>
                <a:latin typeface="Roboto"/>
                <a:cs typeface="Roboto"/>
              </a:rPr>
              <a:t>Most</a:t>
            </a:r>
            <a:r>
              <a:rPr lang="en-US" sz="1400" b="1" spc="-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lang="en-US" sz="1400" b="1" spc="-10" dirty="0">
                <a:solidFill>
                  <a:srgbClr val="FFFFFF"/>
                </a:solidFill>
                <a:latin typeface="Roboto"/>
                <a:cs typeface="Roboto"/>
              </a:rPr>
              <a:t>solutions</a:t>
            </a:r>
            <a:r>
              <a:rPr lang="en-US" sz="1400" b="1" spc="-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lang="en-US" sz="1400" b="1" spc="-10" dirty="0">
                <a:solidFill>
                  <a:srgbClr val="FFFFFF"/>
                </a:solidFill>
                <a:latin typeface="Roboto"/>
                <a:cs typeface="Roboto"/>
              </a:rPr>
              <a:t>protect browsing</a:t>
            </a:r>
            <a:r>
              <a:rPr lang="en-US" sz="1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lang="en-US" sz="14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lang="en-US" sz="1400" b="1" spc="-30" dirty="0">
                <a:solidFill>
                  <a:srgbClr val="FFFFFF"/>
                </a:solidFill>
                <a:latin typeface="Roboto"/>
                <a:cs typeface="Roboto"/>
              </a:rPr>
              <a:t>email—</a:t>
            </a:r>
            <a:r>
              <a:rPr lang="en-US" sz="1400" b="1" spc="-25" dirty="0">
                <a:solidFill>
                  <a:srgbClr val="FFFFFF"/>
                </a:solidFill>
                <a:latin typeface="Roboto"/>
                <a:cs typeface="Roboto"/>
              </a:rPr>
              <a:t>not </a:t>
            </a:r>
            <a:r>
              <a:rPr lang="en-US" sz="1400" b="1" spc="-10" dirty="0">
                <a:solidFill>
                  <a:srgbClr val="FFFFFF"/>
                </a:solidFill>
                <a:latin typeface="Roboto"/>
                <a:cs typeface="Roboto"/>
              </a:rPr>
              <a:t>both.</a:t>
            </a:r>
            <a:endParaRPr lang="en-US" sz="1400" dirty="0">
              <a:latin typeface="Roboto"/>
              <a:cs typeface="Robot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40D850-2AE6-9962-6BA6-7C08210D2387}"/>
              </a:ext>
            </a:extLst>
          </p:cNvPr>
          <p:cNvSpPr txBox="1"/>
          <p:nvPr/>
        </p:nvSpPr>
        <p:spPr>
          <a:xfrm>
            <a:off x="762000" y="1341120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62102C-BDFA-AB28-7EB8-1BC059DC9D10}"/>
              </a:ext>
            </a:extLst>
          </p:cNvPr>
          <p:cNvSpPr txBox="1"/>
          <p:nvPr/>
        </p:nvSpPr>
        <p:spPr>
          <a:xfrm>
            <a:off x="45245" y="1115661"/>
            <a:ext cx="597455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b="1" i="1" dirty="0">
                <a:solidFill>
                  <a:schemeClr val="bg1"/>
                </a:solidFill>
              </a:rPr>
              <a:t>Web Content Filtering – Bertino et al</a:t>
            </a:r>
            <a:r>
              <a:rPr lang="en-US" dirty="0">
                <a:solidFill>
                  <a:schemeClr val="bg1"/>
                </a:solidFill>
              </a:rPr>
              <a:t>: Proposed a framework for web-content filtering using data mining and firewall techniques. We use content filtering and firewall-based access control to block inappropriate websites.</a:t>
            </a:r>
          </a:p>
          <a:p>
            <a:pPr marL="342900" indent="-342900">
              <a:buAutoNum type="arabicPeriod"/>
            </a:pPr>
            <a:r>
              <a:rPr lang="en-US" sz="2000" b="1" i="1" dirty="0">
                <a:solidFill>
                  <a:schemeClr val="bg1"/>
                </a:solidFill>
              </a:rPr>
              <a:t> URL Filtering – Turner (2021): </a:t>
            </a:r>
            <a:r>
              <a:rPr lang="en-US" dirty="0">
                <a:solidFill>
                  <a:schemeClr val="bg1"/>
                </a:solidFill>
              </a:rPr>
              <a:t>Studied URL filtering in schools and identified limitations such as filtering circumvention. We use multiple filtering layers instead of depending only on URL blacklists.</a:t>
            </a:r>
          </a:p>
          <a:p>
            <a:pPr marL="342900" indent="-342900">
              <a:buAutoNum type="arabicPeriod"/>
            </a:pPr>
            <a:r>
              <a:rPr lang="en-US" sz="2000" b="1" i="1" dirty="0">
                <a:solidFill>
                  <a:schemeClr val="bg1"/>
                </a:solidFill>
              </a:rPr>
              <a:t>Disposable Email Detection – Alanazi &amp; Alanazi (2024): </a:t>
            </a:r>
            <a:r>
              <a:rPr lang="en-US" dirty="0">
                <a:solidFill>
                  <a:schemeClr val="bg1"/>
                </a:solidFill>
              </a:rPr>
              <a:t>Proposed NLP and domain-validation techniques to detect disposable email addresses. We use email-domain validation and disposable-domain detection in our system.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718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4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1463"/>
            <a:ext cx="8229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5465"/>
            <a:ext cx="8229600" cy="700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School-network filtering needs more than static rules.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331930"/>
            <a:ext cx="600075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policy engine must adapt to changing domains while enforcing age-appropriate access with evidence.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89978"/>
            <a:ext cx="4000500" cy="2509838"/>
          </a:xfrm>
          <a:prstGeom prst="roundRect">
            <a:avLst>
              <a:gd name="adj" fmla="val 1244"/>
            </a:avLst>
          </a:prstGeom>
          <a:solidFill>
            <a:srgbClr val="111827"/>
          </a:solidFill>
          <a:ln/>
        </p:spPr>
      </p:sp>
      <p:sp>
        <p:nvSpPr>
          <p:cNvPr id="8" name="Shape 6"/>
          <p:cNvSpPr/>
          <p:nvPr/>
        </p:nvSpPr>
        <p:spPr>
          <a:xfrm>
            <a:off x="704850" y="2574699"/>
            <a:ext cx="276225" cy="276225"/>
          </a:xfrm>
          <a:prstGeom prst="roundRect">
            <a:avLst>
              <a:gd name="adj" fmla="val 19976"/>
            </a:avLst>
          </a:prstGeom>
          <a:solidFill>
            <a:srgbClr val="0B1F3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641374"/>
            <a:ext cx="142875" cy="1428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7274" y="2517076"/>
            <a:ext cx="2424113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gap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67274" y="2759719"/>
            <a:ext cx="242411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263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Broad rules struggle with a changing web.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4241" y="3079279"/>
            <a:ext cx="1333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32069" y="3078941"/>
            <a:ext cx="2771775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7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Static lists miss newly created domains.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5432" y="3397690"/>
            <a:ext cx="142875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43556" y="3397014"/>
            <a:ext cx="3267075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7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False positives block legitimate learning resources.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03659" y="3901164"/>
            <a:ext cx="157163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53691" y="3900488"/>
            <a:ext cx="3257550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7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gaps can let undesired content through.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04850" y="4443751"/>
            <a:ext cx="3505200" cy="266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result: inconsistent decisions at the point of access.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86300" y="2289978"/>
            <a:ext cx="4000500" cy="2509838"/>
          </a:xfrm>
          <a:prstGeom prst="roundRect">
            <a:avLst>
              <a:gd name="adj" fmla="val 1244"/>
            </a:avLst>
          </a:prstGeom>
          <a:solidFill>
            <a:srgbClr val="0B1F3A"/>
          </a:solidFill>
          <a:ln w="8659">
            <a:solidFill>
              <a:srgbClr val="00D4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42610" y="2583359"/>
            <a:ext cx="276225" cy="276225"/>
          </a:xfrm>
          <a:prstGeom prst="roundRect">
            <a:avLst>
              <a:gd name="adj" fmla="val 19976"/>
            </a:avLst>
          </a:prstGeom>
          <a:solidFill>
            <a:srgbClr val="00D4FF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285" y="2650034"/>
            <a:ext cx="142875" cy="14287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04411" y="2525733"/>
            <a:ext cx="2281238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39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Required control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304411" y="2768379"/>
            <a:ext cx="228123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Bef>
                <a:spcPts val="263"/>
              </a:spcBef>
              <a:buNone/>
            </a:pPr>
            <a:r>
              <a:rPr lang="en-US" sz="9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layered model for accountable access.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942001" y="3087939"/>
            <a:ext cx="1333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169396" y="3087601"/>
            <a:ext cx="2190750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7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Configure access by age group.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943692" y="3406350"/>
            <a:ext cx="123825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5163631" y="3405674"/>
            <a:ext cx="3267075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7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 category-aware decisions, not one rule for everyone.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942069" y="3909822"/>
            <a:ext cx="138113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173915" y="3909145"/>
            <a:ext cx="3257550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7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Enforce through a strong proxy with centralized logs.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943476" y="4452408"/>
            <a:ext cx="3486150" cy="266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goal: adaptive protection with transparent accountability.</a:t>
            </a:r>
            <a:endParaRPr lang="en-US" sz="8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850" y="4443751"/>
            <a:ext cx="3505200" cy="266700"/>
          </a:xfrm>
          <a:prstGeom prst="rect">
            <a:avLst/>
          </a:prstGeom>
        </p:spPr>
      </p:pic>
      <p:pic>
        <p:nvPicPr>
          <p:cNvPr id="3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3476" y="4452408"/>
            <a:ext cx="348615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418"/>
          </a:solidFill>
          <a:ln/>
        </p:spPr>
      </p:sp>
      <p:sp>
        <p:nvSpPr>
          <p:cNvPr id="4" name="Shape 2"/>
          <p:cNvSpPr/>
          <p:nvPr/>
        </p:nvSpPr>
        <p:spPr>
          <a:xfrm>
            <a:off x="438150" y="447675"/>
            <a:ext cx="219075" cy="19050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5" name="Text 3"/>
          <p:cNvSpPr/>
          <p:nvPr/>
        </p:nvSpPr>
        <p:spPr>
          <a:xfrm>
            <a:off x="733425" y="387060"/>
            <a:ext cx="1575197" cy="14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FOUNDATION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8150" y="610642"/>
            <a:ext cx="8267700" cy="3476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4"/>
              </a:lnSpc>
              <a:buNone/>
            </a:pPr>
            <a:r>
              <a:rPr lang="en-US" sz="2500" b="1" dirty="0">
                <a:solidFill>
                  <a:srgbClr val="ECEF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&amp; SOFTWARE REQUIREMENTS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38150" y="1026021"/>
            <a:ext cx="5619750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100" dirty="0">
                <a:solidFill>
                  <a:srgbClr val="98A2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controlled Linux-based environment connects traffic inspection, policy logic, and validation services.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150" y="1982242"/>
            <a:ext cx="4019550" cy="2819400"/>
          </a:xfrm>
          <a:prstGeom prst="roundRect">
            <a:avLst>
              <a:gd name="adj" fmla="val 548"/>
            </a:avLst>
          </a:prstGeom>
          <a:solidFill>
            <a:srgbClr val="1C2229"/>
          </a:solidFill>
          <a:ln/>
        </p:spPr>
      </p:sp>
      <p:sp>
        <p:nvSpPr>
          <p:cNvPr id="9" name="Shape 7"/>
          <p:cNvSpPr/>
          <p:nvPr/>
        </p:nvSpPr>
        <p:spPr>
          <a:xfrm>
            <a:off x="438150" y="1983284"/>
            <a:ext cx="4019550" cy="33337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240459"/>
            <a:ext cx="361950" cy="361950"/>
          </a:xfrm>
          <a:prstGeom prst="roundRect">
            <a:avLst>
              <a:gd name="adj" fmla="val 9972"/>
            </a:avLst>
          </a:prstGeom>
          <a:solidFill>
            <a:srgbClr val="0B1F3A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87" y="2330946"/>
            <a:ext cx="180975" cy="18097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52079" y="2211884"/>
            <a:ext cx="248602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/ HARDWARE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079" y="2421434"/>
            <a:ext cx="2486025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ECEF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Controlled Infrastructure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" y="2810836"/>
            <a:ext cx="3333750" cy="590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4"/>
              </a:lnSpc>
              <a:spcAft>
                <a:spcPts val="1275"/>
              </a:spcAft>
              <a:buNone/>
            </a:pPr>
            <a:r>
              <a:rPr lang="en-US" sz="10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devices include PCs, laptops, tablets, and mobile devices, connected through a campus LAN/Wi-Fi test setup.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3954025"/>
            <a:ext cx="3524250" cy="619125"/>
          </a:xfrm>
          <a:prstGeom prst="rect">
            <a:avLst/>
          </a:prstGeom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06276"/>
            <a:ext cx="123825" cy="1238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85825" y="4091488"/>
            <a:ext cx="3324225" cy="4810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8A2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Linux gateway/server for firewall and proxy services; deployable on a lab PC, server, or virtualized environment.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86300" y="1982242"/>
            <a:ext cx="4019550" cy="2819400"/>
          </a:xfrm>
          <a:prstGeom prst="roundRect">
            <a:avLst>
              <a:gd name="adj" fmla="val 548"/>
            </a:avLst>
          </a:prstGeom>
          <a:solidFill>
            <a:srgbClr val="0F172A"/>
          </a:solidFill>
          <a:ln/>
        </p:spPr>
      </p:sp>
      <p:sp>
        <p:nvSpPr>
          <p:cNvPr id="19" name="Shape 15"/>
          <p:cNvSpPr/>
          <p:nvPr/>
        </p:nvSpPr>
        <p:spPr>
          <a:xfrm>
            <a:off x="4686300" y="1983284"/>
            <a:ext cx="4019550" cy="33337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6"/>
          <p:cNvSpPr/>
          <p:nvPr/>
        </p:nvSpPr>
        <p:spPr>
          <a:xfrm>
            <a:off x="4933950" y="2240459"/>
            <a:ext cx="361950" cy="361950"/>
          </a:xfrm>
          <a:prstGeom prst="roundRect">
            <a:avLst>
              <a:gd name="adj" fmla="val 9972"/>
            </a:avLst>
          </a:prstGeom>
          <a:solidFill>
            <a:srgbClr val="241B42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438" y="2330946"/>
            <a:ext cx="180975" cy="1809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99660" y="2211884"/>
            <a:ext cx="251936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/ SOFTWARE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5399660" y="2421434"/>
            <a:ext cx="2519362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ECEF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&amp; Inspection Stack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933950" y="2812797"/>
            <a:ext cx="3333750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4"/>
              </a:lnSpc>
              <a:spcAft>
                <a:spcPts val="1275"/>
              </a:spcAft>
              <a:buNone/>
            </a:pPr>
            <a:r>
              <a:rPr lang="en-US" sz="10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handles classification, policy logic, and email validation across the prototype.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933950" y="4114988"/>
            <a:ext cx="3524250" cy="457200"/>
          </a:xfrm>
          <a:prstGeom prst="rect">
            <a:avLst/>
          </a:prstGeom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950" y="4266279"/>
            <a:ext cx="123825" cy="12382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33975" y="4252452"/>
            <a:ext cx="3324225" cy="319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8A2B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Squid/mitmproxy, iptables, Shalla’s Blacklists, and DNS/MX utilities complete the control layer.</a:t>
            </a:r>
            <a:endParaRPr lang="en-US" sz="9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" y="3954025"/>
            <a:ext cx="3524250" cy="619125"/>
          </a:xfrm>
          <a:prstGeom prst="rect">
            <a:avLst/>
          </a:prstGeom>
        </p:spPr>
      </p:pic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3950" y="4114988"/>
            <a:ext cx="352425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420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390038"/>
            <a:ext cx="81915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6250" y="595285"/>
            <a:ext cx="8191500" cy="338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78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Existing System </a:t>
            </a:r>
            <a:r>
              <a:rPr lang="en-US" sz="25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</a:t>
            </a:r>
            <a:r>
              <a:rPr lang="en-US" sz="25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Proposed System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76250" y="999854"/>
            <a:ext cx="819150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1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fragmented controls to one adaptive policy layer.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6250" y="1689957"/>
            <a:ext cx="3981450" cy="2433637"/>
          </a:xfrm>
          <a:prstGeom prst="roundRect">
            <a:avLst>
              <a:gd name="adj" fmla="val 1324"/>
            </a:avLst>
          </a:prstGeom>
          <a:solidFill>
            <a:srgbClr val="0F172A"/>
          </a:solidFill>
          <a:ln/>
        </p:spPr>
      </p:sp>
      <p:sp>
        <p:nvSpPr>
          <p:cNvPr id="8" name="Shape 6"/>
          <p:cNvSpPr/>
          <p:nvPr/>
        </p:nvSpPr>
        <p:spPr>
          <a:xfrm>
            <a:off x="714375" y="1908585"/>
            <a:ext cx="3505200" cy="509587"/>
          </a:xfrm>
          <a:prstGeom prst="rect">
            <a:avLst/>
          </a:prstGeom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013996"/>
            <a:ext cx="161925" cy="1619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3121" y="1907814"/>
            <a:ext cx="175260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8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Existing approach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3121" y="2144491"/>
            <a:ext cx="17526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 tools, separate decisions</a:t>
            </a:r>
            <a:endParaRPr lang="en-US" sz="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608957"/>
            <a:ext cx="119062" cy="1190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28688" y="2588933"/>
            <a:ext cx="3290887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Squid, add-ons, DNS filters, and firewall rules operate together.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121358"/>
            <a:ext cx="119062" cy="1190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8688" y="3101334"/>
            <a:ext cx="3290887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Static lists can produce false decisions with limited age differentiation.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633760"/>
            <a:ext cx="119062" cy="1190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8688" y="3613735"/>
            <a:ext cx="3290887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 validation is typically handled separately by applications.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686300" y="1689957"/>
            <a:ext cx="3981450" cy="2433637"/>
          </a:xfrm>
          <a:prstGeom prst="roundRect">
            <a:avLst>
              <a:gd name="adj" fmla="val 1324"/>
            </a:avLst>
          </a:prstGeom>
          <a:solidFill>
            <a:srgbClr val="0B1F3A"/>
          </a:solidFill>
          <a:ln w="8659">
            <a:solidFill>
              <a:srgbClr val="00D4FF"/>
            </a:solidFill>
            <a:prstDash val="solid"/>
          </a:ln>
          <a:effectLst>
            <a:outerShdw blurRad="133350" dist="50800" dir="16200000" algn="bl" rotWithShape="0">
              <a:srgbClr val="00D4FF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933951" y="1917244"/>
            <a:ext cx="3486150" cy="509587"/>
          </a:xfrm>
          <a:prstGeom prst="rect">
            <a:avLst/>
          </a:prstGeom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085" y="2022654"/>
            <a:ext cx="161925" cy="1619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81547" y="1916473"/>
            <a:ext cx="1852612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8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approach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5181547" y="2153150"/>
            <a:ext cx="1852612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adaptive policy engine</a:t>
            </a:r>
            <a:endParaRPr lang="en-US" sz="8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085" y="2617616"/>
            <a:ext cx="119062" cy="11906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48263" y="2597592"/>
            <a:ext cx="3271838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classifies URLs and domains using datasets and heuristics.</a:t>
            </a:r>
            <a:endParaRPr lang="en-US" sz="10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085" y="3130017"/>
            <a:ext cx="119062" cy="11906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148263" y="3109993"/>
            <a:ext cx="3271838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Age-based policies choose allowed, restricted, or blocked categories.</a:t>
            </a:r>
            <a:endParaRPr lang="en-US" sz="10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085" y="3642420"/>
            <a:ext cx="119062" cy="11906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148263" y="3622395"/>
            <a:ext cx="3271838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logs capture metadata for continuous tuning.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476250" y="4352925"/>
            <a:ext cx="8191500" cy="447675"/>
          </a:xfrm>
          <a:prstGeom prst="roundRect">
            <a:avLst>
              <a:gd name="adj" fmla="val 6519"/>
            </a:avLst>
          </a:prstGeom>
          <a:solidFill>
            <a:srgbClr val="111827"/>
          </a:solidFill>
          <a:ln/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685" y="4505325"/>
            <a:ext cx="142875" cy="142875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08538" y="4493405"/>
            <a:ext cx="65770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1000" b="1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proposed system consolidates classification, age-aware decisions, and feedback-ready logging.</a:t>
            </a:r>
            <a:endParaRPr lang="en-US" sz="10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375" y="1908585"/>
            <a:ext cx="3505200" cy="509587"/>
          </a:xfrm>
          <a:prstGeom prst="rect">
            <a:avLst/>
          </a:prstGeom>
        </p:spPr>
      </p:pic>
      <p:pic>
        <p:nvPicPr>
          <p:cNvPr id="3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33951" y="1917244"/>
            <a:ext cx="3486150" cy="509587"/>
          </a:xfrm>
          <a:prstGeom prst="rect">
            <a:avLst/>
          </a:prstGeom>
        </p:spPr>
      </p:pic>
      <p:pic>
        <p:nvPicPr>
          <p:cNvPr id="34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50" y="4352925"/>
            <a:ext cx="819150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420"/>
          </a:solidFill>
          <a:ln/>
        </p:spPr>
      </p:sp>
      <p:sp>
        <p:nvSpPr>
          <p:cNvPr id="4" name="Text 2"/>
          <p:cNvSpPr/>
          <p:nvPr/>
        </p:nvSpPr>
        <p:spPr>
          <a:xfrm>
            <a:off x="419100" y="342413"/>
            <a:ext cx="83058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CONTROL PLANE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9100" y="547417"/>
            <a:ext cx="8305800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9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9100" y="944111"/>
            <a:ext cx="5524500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8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Layered enforcement connects identity, content policy, email verification, and auditable decisions.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9100" y="1839244"/>
            <a:ext cx="6057900" cy="3000375"/>
          </a:xfrm>
          <a:prstGeom prst="roundRect">
            <a:avLst>
              <a:gd name="adj" fmla="val 871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601157" y="2027932"/>
            <a:ext cx="155733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6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ENFORCEMENT PIPELINE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24392" y="2001738"/>
            <a:ext cx="871538" cy="190500"/>
          </a:xfrm>
          <a:prstGeom prst="roundRect">
            <a:avLst>
              <a:gd name="adj" fmla="val 60000"/>
            </a:avLst>
          </a:prstGeom>
          <a:solidFill>
            <a:srgbClr val="132B3F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972" y="2051745"/>
            <a:ext cx="90488" cy="90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24417" y="2039838"/>
            <a:ext cx="604837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4"/>
              </a:lnSpc>
              <a:buNone/>
            </a:pPr>
            <a:r>
              <a:rPr lang="en-US" sz="5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GATES</a:t>
            </a:r>
            <a:endParaRPr lang="en-US" sz="500" dirty="0"/>
          </a:p>
        </p:txBody>
      </p:sp>
      <p:sp>
        <p:nvSpPr>
          <p:cNvPr id="12" name="Shape 9"/>
          <p:cNvSpPr/>
          <p:nvPr/>
        </p:nvSpPr>
        <p:spPr>
          <a:xfrm>
            <a:off x="600007" y="2314710"/>
            <a:ext cx="742950" cy="1090613"/>
          </a:xfrm>
          <a:prstGeom prst="roundRect">
            <a:avLst>
              <a:gd name="adj" fmla="val 9467"/>
            </a:avLst>
          </a:prstGeom>
          <a:solidFill>
            <a:srgbClr val="111827"/>
          </a:solidFill>
          <a:ln w="3464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7160" y="2438846"/>
            <a:ext cx="528638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2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Users /</a:t>
            </a:r>
            <a:endParaRPr lang="en-US" sz="800" dirty="0"/>
          </a:p>
          <a:p>
            <a:pPr marL="0" indent="0" algn="l">
              <a:lnSpc>
                <a:spcPts val="992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School Network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07160" y="2858447"/>
            <a:ext cx="528638" cy="4333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Requests enter the controlled boundary.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410418" y="2314710"/>
            <a:ext cx="142875" cy="10906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39"/>
              </a:lnSpc>
              <a:buNone/>
            </a:pPr>
            <a:r>
              <a:rPr lang="en-US" sz="11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619708" y="2314710"/>
            <a:ext cx="747712" cy="1090613"/>
          </a:xfrm>
          <a:prstGeom prst="roundRect">
            <a:avLst>
              <a:gd name="adj" fmla="val 9347"/>
            </a:avLst>
          </a:prstGeom>
          <a:solidFill>
            <a:srgbClr val="111827"/>
          </a:solidFill>
          <a:ln w="8659">
            <a:solidFill>
              <a:srgbClr val="00D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34009" y="2500772"/>
            <a:ext cx="519112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2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iptables</a:t>
            </a:r>
            <a:endParaRPr lang="en-US" sz="800" dirty="0"/>
          </a:p>
          <a:p>
            <a:pPr marL="0" indent="0" algn="l">
              <a:lnSpc>
                <a:spcPts val="992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Firewall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734009" y="2795479"/>
            <a:ext cx="519112" cy="4333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First-line network enforcement.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2433839" y="2314710"/>
            <a:ext cx="142875" cy="10906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39"/>
              </a:lnSpc>
              <a:buNone/>
            </a:pPr>
            <a:r>
              <a:rPr lang="en-US" sz="11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644176" y="2314710"/>
            <a:ext cx="742950" cy="1090613"/>
          </a:xfrm>
          <a:prstGeom prst="roundRect">
            <a:avLst>
              <a:gd name="adj" fmla="val 9467"/>
            </a:avLst>
          </a:prstGeom>
          <a:solidFill>
            <a:srgbClr val="111827"/>
          </a:solidFill>
          <a:ln w="3464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51328" y="2492938"/>
            <a:ext cx="528638" cy="3762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2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Squid /</a:t>
            </a:r>
            <a:endParaRPr lang="en-US" sz="800" dirty="0"/>
          </a:p>
          <a:p>
            <a:pPr marL="0" indent="0" algn="l">
              <a:lnSpc>
                <a:spcPts val="992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mitmproxy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51328" y="2913216"/>
            <a:ext cx="528638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Intercepts and routes traffic.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3454586" y="2314710"/>
            <a:ext cx="142875" cy="10906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39"/>
              </a:lnSpc>
              <a:buNone/>
            </a:pPr>
            <a:r>
              <a:rPr lang="en-US" sz="11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64918" y="2314710"/>
            <a:ext cx="742950" cy="1090613"/>
          </a:xfrm>
          <a:prstGeom prst="roundRect">
            <a:avLst>
              <a:gd name="adj" fmla="val 9467"/>
            </a:avLst>
          </a:prstGeom>
          <a:solidFill>
            <a:srgbClr val="111827"/>
          </a:solidFill>
          <a:ln w="3464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72075" y="2428658"/>
            <a:ext cx="528638" cy="504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2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Content</a:t>
            </a:r>
            <a:endParaRPr lang="en-US" sz="800" dirty="0"/>
          </a:p>
          <a:p>
            <a:pPr marL="0" indent="0" algn="l">
              <a:lnSpc>
                <a:spcPts val="992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Classification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772075" y="2976210"/>
            <a:ext cx="528638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Interprets URL and category.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4475328" y="2314710"/>
            <a:ext cx="142875" cy="10906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39"/>
              </a:lnSpc>
              <a:buNone/>
            </a:pPr>
            <a:r>
              <a:rPr lang="en-US" sz="11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84610" y="2314710"/>
            <a:ext cx="747712" cy="1090613"/>
          </a:xfrm>
          <a:prstGeom prst="roundRect">
            <a:avLst>
              <a:gd name="adj" fmla="val 9347"/>
            </a:avLst>
          </a:prstGeom>
          <a:solidFill>
            <a:srgbClr val="111827"/>
          </a:solidFill>
          <a:ln w="8659">
            <a:solidFill>
              <a:srgbClr val="00D4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98906" y="2428658"/>
            <a:ext cx="519112" cy="504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2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Age-Based</a:t>
            </a:r>
            <a:endParaRPr lang="en-US" sz="800" dirty="0"/>
          </a:p>
          <a:p>
            <a:pPr marL="0" indent="0" algn="l">
              <a:lnSpc>
                <a:spcPts val="992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Engine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798906" y="2976210"/>
            <a:ext cx="519112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Applies user / group rules.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5498726" y="2314710"/>
            <a:ext cx="142875" cy="10906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39"/>
              </a:lnSpc>
              <a:buNone/>
            </a:pPr>
            <a:r>
              <a:rPr lang="en-US" sz="11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709681" y="2314710"/>
            <a:ext cx="585788" cy="1090613"/>
          </a:xfrm>
          <a:prstGeom prst="roundRect">
            <a:avLst>
              <a:gd name="adj" fmla="val 15229"/>
            </a:avLst>
          </a:prstGeom>
          <a:solidFill>
            <a:srgbClr val="111827"/>
          </a:solidFill>
          <a:ln w="3464">
            <a:solidFill>
              <a:srgbClr val="3B82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16838" y="2554864"/>
            <a:ext cx="371475" cy="252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2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Internet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816838" y="2850248"/>
            <a:ext cx="371475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Allowed destination.</a:t>
            </a:r>
            <a:endParaRPr lang="en-US" sz="600" dirty="0"/>
          </a:p>
        </p:txBody>
      </p:sp>
      <p:sp>
        <p:nvSpPr>
          <p:cNvPr id="35" name="Shape 32"/>
          <p:cNvSpPr/>
          <p:nvPr/>
        </p:nvSpPr>
        <p:spPr>
          <a:xfrm>
            <a:off x="600075" y="3528146"/>
            <a:ext cx="5695950" cy="4763"/>
          </a:xfrm>
          <a:prstGeom prst="rect">
            <a:avLst/>
          </a:prstGeom>
          <a:solidFill>
            <a:srgbClr val="263447"/>
          </a:solidFill>
          <a:ln/>
        </p:spPr>
      </p:sp>
      <p:sp>
        <p:nvSpPr>
          <p:cNvPr id="36" name="Shape 33"/>
          <p:cNvSpPr/>
          <p:nvPr/>
        </p:nvSpPr>
        <p:spPr>
          <a:xfrm>
            <a:off x="600075" y="3656734"/>
            <a:ext cx="1619250" cy="647700"/>
          </a:xfrm>
          <a:prstGeom prst="roundRect">
            <a:avLst>
              <a:gd name="adj" fmla="val 12457"/>
            </a:avLst>
          </a:prstGeom>
          <a:solidFill>
            <a:srgbClr val="111827"/>
          </a:solidFill>
          <a:ln w="3464">
            <a:solidFill>
              <a:srgbClr val="8B5CF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07228" y="3847897"/>
            <a:ext cx="140493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2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 Domain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07228" y="4014977"/>
            <a:ext cx="1404938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Submitted identity signal.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2276475" y="3909133"/>
            <a:ext cx="304800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39"/>
              </a:lnSpc>
              <a:buNone/>
            </a:pPr>
            <a:r>
              <a:rPr lang="en-US" sz="11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2638425" y="3656734"/>
            <a:ext cx="1619250" cy="647700"/>
          </a:xfrm>
          <a:prstGeom prst="roundRect">
            <a:avLst>
              <a:gd name="adj" fmla="val 12457"/>
            </a:avLst>
          </a:prstGeom>
          <a:solidFill>
            <a:srgbClr val="111827"/>
          </a:solidFill>
          <a:ln w="3464">
            <a:solidFill>
              <a:srgbClr val="3B82F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745578" y="3793805"/>
            <a:ext cx="1404938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2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DNS / MX Check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2745578" y="3962589"/>
            <a:ext cx="1404938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Cross-checks domain health and disposable-domain list.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4314825" y="3909133"/>
            <a:ext cx="304800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39"/>
              </a:lnSpc>
              <a:buNone/>
            </a:pPr>
            <a:r>
              <a:rPr lang="en-US" sz="11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676775" y="3656734"/>
            <a:ext cx="1619250" cy="647700"/>
          </a:xfrm>
          <a:prstGeom prst="roundRect">
            <a:avLst>
              <a:gd name="adj" fmla="val 12457"/>
            </a:avLst>
          </a:prstGeom>
          <a:solidFill>
            <a:srgbClr val="111827"/>
          </a:solidFill>
          <a:ln w="8659">
            <a:solidFill>
              <a:srgbClr val="00D4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91076" y="3847897"/>
            <a:ext cx="139065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2"/>
              </a:lnSpc>
              <a:buNone/>
            </a:pPr>
            <a:r>
              <a:rPr lang="en-US" sz="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 Verification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791076" y="4014977"/>
            <a:ext cx="1390650" cy="1095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2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Returns a valid / invalid decision.</a:t>
            </a:r>
            <a:endParaRPr lang="en-US" sz="600" dirty="0"/>
          </a:p>
        </p:txBody>
      </p:sp>
      <p:sp>
        <p:nvSpPr>
          <p:cNvPr id="47" name="Shape 44"/>
          <p:cNvSpPr/>
          <p:nvPr/>
        </p:nvSpPr>
        <p:spPr>
          <a:xfrm>
            <a:off x="600075" y="4427406"/>
            <a:ext cx="5695950" cy="347663"/>
          </a:xfrm>
          <a:prstGeom prst="roundRect">
            <a:avLst>
              <a:gd name="adj" fmla="val 9007"/>
            </a:avLst>
          </a:prstGeom>
          <a:solidFill>
            <a:srgbClr val="132B3F"/>
          </a:solidFill>
          <a:ln/>
        </p:spPr>
      </p:sp>
      <p:pic>
        <p:nvPicPr>
          <p:cNvPr id="4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220" y="4546456"/>
            <a:ext cx="109537" cy="109537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1692945" y="4525024"/>
            <a:ext cx="272891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7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output joins the same enforcement record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4498465" y="4508369"/>
            <a:ext cx="123825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9"/>
              </a:lnSpc>
              <a:buNone/>
            </a:pPr>
            <a:r>
              <a:rPr lang="en-US" sz="900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4698599" y="4525024"/>
            <a:ext cx="690562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Allow / Block</a:t>
            </a:r>
            <a:endParaRPr lang="en-US" sz="700" dirty="0"/>
          </a:p>
        </p:txBody>
      </p:sp>
      <p:sp>
        <p:nvSpPr>
          <p:cNvPr id="52" name="Shape 48"/>
          <p:cNvSpPr/>
          <p:nvPr/>
        </p:nvSpPr>
        <p:spPr>
          <a:xfrm>
            <a:off x="6677025" y="1839244"/>
            <a:ext cx="2047875" cy="1824037"/>
          </a:xfrm>
          <a:prstGeom prst="roundRect">
            <a:avLst>
              <a:gd name="adj" fmla="val 2356"/>
            </a:avLst>
          </a:prstGeom>
          <a:solidFill>
            <a:srgbClr val="0F172A"/>
          </a:solidFill>
          <a:ln/>
        </p:spPr>
      </p:sp>
      <p:pic>
        <p:nvPicPr>
          <p:cNvPr id="5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3280" y="2005283"/>
            <a:ext cx="133350" cy="133350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7044360" y="1993390"/>
            <a:ext cx="14573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1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Centralized Logging</a:t>
            </a:r>
            <a:endParaRPr lang="en-US" sz="1000" dirty="0"/>
          </a:p>
        </p:txBody>
      </p:sp>
      <p:sp>
        <p:nvSpPr>
          <p:cNvPr id="55" name="Text 50"/>
          <p:cNvSpPr/>
          <p:nvPr/>
        </p:nvSpPr>
        <p:spPr>
          <a:xfrm>
            <a:off x="6843496" y="2256667"/>
            <a:ext cx="1728788" cy="4524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record captures the decision context across every control gate.</a:t>
            </a:r>
            <a:endParaRPr lang="en-US" sz="800" dirty="0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3280" y="2833444"/>
            <a:ext cx="104775" cy="104775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7015812" y="2832727"/>
            <a:ext cx="1376363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URL and content category</a:t>
            </a:r>
            <a:endParaRPr lang="en-US" sz="800" dirty="0"/>
          </a:p>
        </p:txBody>
      </p:sp>
      <p:pic>
        <p:nvPicPr>
          <p:cNvPr id="5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3280" y="3060610"/>
            <a:ext cx="104775" cy="104775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7014946" y="3061557"/>
            <a:ext cx="1557338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/ group and policy decision</a:t>
            </a:r>
            <a:endParaRPr lang="en-US" sz="800" dirty="0"/>
          </a:p>
        </p:txBody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3280" y="3429216"/>
            <a:ext cx="104775" cy="104775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7014473" y="3428499"/>
            <a:ext cx="1462088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 result and timestamp</a:t>
            </a:r>
            <a:endParaRPr lang="en-US" sz="800" dirty="0"/>
          </a:p>
        </p:txBody>
      </p:sp>
      <p:sp>
        <p:nvSpPr>
          <p:cNvPr id="62" name="Shape 54"/>
          <p:cNvSpPr/>
          <p:nvPr/>
        </p:nvSpPr>
        <p:spPr>
          <a:xfrm>
            <a:off x="6677025" y="3814763"/>
            <a:ext cx="2047875" cy="1023937"/>
          </a:xfrm>
          <a:prstGeom prst="roundRect">
            <a:avLst>
              <a:gd name="adj" fmla="val 7476"/>
            </a:avLst>
          </a:prstGeom>
          <a:solidFill>
            <a:srgbClr val="10283A"/>
          </a:solidFill>
          <a:ln w="3464">
            <a:solidFill>
              <a:srgbClr val="00D4FF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6831803" y="3989378"/>
            <a:ext cx="1738312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ARCHITECTURAL PRINCIPLE</a:t>
            </a:r>
            <a:endParaRPr lang="en-US" sz="700" dirty="0"/>
          </a:p>
        </p:txBody>
      </p:sp>
      <p:sp>
        <p:nvSpPr>
          <p:cNvPr id="64" name="Text 56"/>
          <p:cNvSpPr/>
          <p:nvPr/>
        </p:nvSpPr>
        <p:spPr>
          <a:xfrm>
            <a:off x="6831803" y="4169568"/>
            <a:ext cx="1738312" cy="495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Enforce first. Verify identity. Record everything.</a:t>
            </a:r>
            <a:endParaRPr lang="en-US" sz="1000" dirty="0"/>
          </a:p>
        </p:txBody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7025" y="1839244"/>
            <a:ext cx="2047875" cy="18240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420"/>
          </a:solidFill>
          <a:ln/>
        </p:spPr>
      </p:sp>
      <p:sp>
        <p:nvSpPr>
          <p:cNvPr id="4" name="Text 2"/>
          <p:cNvSpPr/>
          <p:nvPr/>
        </p:nvSpPr>
        <p:spPr>
          <a:xfrm>
            <a:off x="438150" y="361463"/>
            <a:ext cx="82677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WEB CONTROL PLANE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150" y="566710"/>
            <a:ext cx="8267700" cy="3381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78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38150" y="971279"/>
            <a:ext cx="826770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1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request passes through layered inspection before a decision is logged.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150" y="1689957"/>
            <a:ext cx="8267700" cy="3109913"/>
          </a:xfrm>
          <a:prstGeom prst="roundRect">
            <a:avLst>
              <a:gd name="adj" fmla="val 810"/>
            </a:avLst>
          </a:prstGeom>
          <a:solidFill>
            <a:srgbClr val="0F172A"/>
          </a:solidFill>
          <a:ln/>
        </p:spPr>
      </p:sp>
      <p:sp>
        <p:nvSpPr>
          <p:cNvPr id="8" name="Shape 6"/>
          <p:cNvSpPr/>
          <p:nvPr/>
        </p:nvSpPr>
        <p:spPr>
          <a:xfrm>
            <a:off x="657225" y="1890252"/>
            <a:ext cx="1671638" cy="981075"/>
          </a:xfrm>
          <a:prstGeom prst="roundRect">
            <a:avLst>
              <a:gd name="adj" fmla="val 4524"/>
            </a:avLst>
          </a:prstGeom>
          <a:solidFill>
            <a:srgbClr val="132A43"/>
          </a:solidFill>
          <a:ln/>
        </p:spPr>
      </p:sp>
      <p:sp>
        <p:nvSpPr>
          <p:cNvPr id="9" name="Text 7"/>
          <p:cNvSpPr/>
          <p:nvPr/>
        </p:nvSpPr>
        <p:spPr>
          <a:xfrm>
            <a:off x="794685" y="2013076"/>
            <a:ext cx="14192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4685" y="2223627"/>
            <a:ext cx="1419225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9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Browser sends</a:t>
            </a:r>
            <a:endParaRPr lang="en-US" sz="1000" dirty="0"/>
          </a:p>
          <a:p>
            <a:pPr marL="0" indent="0" algn="l">
              <a:lnSpc>
                <a:spcPts val="1239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URL request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4685" y="2591341"/>
            <a:ext cx="14192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Entry point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14587" y="1890252"/>
            <a:ext cx="209550" cy="9810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09863" y="1890252"/>
            <a:ext cx="1671638" cy="981075"/>
          </a:xfrm>
          <a:prstGeom prst="roundRect">
            <a:avLst>
              <a:gd name="adj" fmla="val 4524"/>
            </a:avLst>
          </a:prstGeom>
          <a:solidFill>
            <a:srgbClr val="132A43"/>
          </a:solidFill>
          <a:ln/>
        </p:spPr>
      </p:sp>
      <p:sp>
        <p:nvSpPr>
          <p:cNvPr id="14" name="Text 12"/>
          <p:cNvSpPr/>
          <p:nvPr/>
        </p:nvSpPr>
        <p:spPr>
          <a:xfrm>
            <a:off x="2847322" y="2013076"/>
            <a:ext cx="14192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47322" y="2223627"/>
            <a:ext cx="1419225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9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 rules</a:t>
            </a:r>
            <a:endParaRPr lang="en-US" sz="1000" dirty="0"/>
          </a:p>
          <a:p>
            <a:pPr marL="0" indent="0" algn="l">
              <a:lnSpc>
                <a:spcPts val="1239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redirect traffic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47322" y="2591341"/>
            <a:ext cx="14192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proxy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67225" y="1890252"/>
            <a:ext cx="209550" cy="9810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62500" y="1890252"/>
            <a:ext cx="1671638" cy="981075"/>
          </a:xfrm>
          <a:prstGeom prst="roundRect">
            <a:avLst>
              <a:gd name="adj" fmla="val 4524"/>
            </a:avLst>
          </a:prstGeom>
          <a:solidFill>
            <a:srgbClr val="132A43"/>
          </a:solidFill>
          <a:ln/>
        </p:spPr>
      </p:sp>
      <p:sp>
        <p:nvSpPr>
          <p:cNvPr id="19" name="Text 17"/>
          <p:cNvSpPr/>
          <p:nvPr/>
        </p:nvSpPr>
        <p:spPr>
          <a:xfrm>
            <a:off x="4899960" y="2013076"/>
            <a:ext cx="14192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99960" y="2223627"/>
            <a:ext cx="1419225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9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Proxy extracts</a:t>
            </a:r>
            <a:endParaRPr lang="en-US" sz="1000" dirty="0"/>
          </a:p>
          <a:p>
            <a:pPr marL="0" indent="0" algn="l">
              <a:lnSpc>
                <a:spcPts val="1239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hostname / URL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9960" y="2591341"/>
            <a:ext cx="14192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Normalizes input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19863" y="1890252"/>
            <a:ext cx="209550" cy="9810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5138" y="1890252"/>
            <a:ext cx="1671638" cy="981075"/>
          </a:xfrm>
          <a:prstGeom prst="roundRect">
            <a:avLst>
              <a:gd name="adj" fmla="val 4524"/>
            </a:avLst>
          </a:prstGeom>
          <a:solidFill>
            <a:srgbClr val="132A43"/>
          </a:solidFill>
          <a:ln/>
        </p:spPr>
      </p:sp>
      <p:sp>
        <p:nvSpPr>
          <p:cNvPr id="24" name="Text 22"/>
          <p:cNvSpPr/>
          <p:nvPr/>
        </p:nvSpPr>
        <p:spPr>
          <a:xfrm>
            <a:off x="6952597" y="2013076"/>
            <a:ext cx="14192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52597" y="2223627"/>
            <a:ext cx="1419225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9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Classifier returns</a:t>
            </a:r>
            <a:endParaRPr lang="en-US" sz="1000" dirty="0"/>
          </a:p>
          <a:p>
            <a:pPr marL="0" indent="0" algn="l">
              <a:lnSpc>
                <a:spcPts val="1239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52597" y="2591341"/>
            <a:ext cx="14192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Adds context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57225" y="2996532"/>
            <a:ext cx="1671638" cy="1190625"/>
          </a:xfrm>
          <a:prstGeom prst="roundRect">
            <a:avLst>
              <a:gd name="adj" fmla="val 3072"/>
            </a:avLst>
          </a:prstGeom>
          <a:solidFill>
            <a:srgbClr val="132A43"/>
          </a:solidFill>
          <a:ln/>
        </p:spPr>
      </p:sp>
      <p:sp>
        <p:nvSpPr>
          <p:cNvPr id="28" name="Text 26"/>
          <p:cNvSpPr/>
          <p:nvPr/>
        </p:nvSpPr>
        <p:spPr>
          <a:xfrm>
            <a:off x="794685" y="3119978"/>
            <a:ext cx="14192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4685" y="3277520"/>
            <a:ext cx="1419225" cy="628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9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engine checks</a:t>
            </a:r>
            <a:endParaRPr lang="en-US" sz="1000" dirty="0"/>
          </a:p>
          <a:p>
            <a:pPr marL="0" indent="0" algn="l">
              <a:lnSpc>
                <a:spcPts val="1239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 / role + category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4685" y="3906549"/>
            <a:ext cx="14192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Evaluates policy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414587" y="2996532"/>
            <a:ext cx="209550" cy="11906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09863" y="2996532"/>
            <a:ext cx="1671638" cy="1190625"/>
          </a:xfrm>
          <a:prstGeom prst="roundRect">
            <a:avLst>
              <a:gd name="adj" fmla="val 3072"/>
            </a:avLst>
          </a:prstGeom>
          <a:solidFill>
            <a:srgbClr val="132A43"/>
          </a:solidFill>
          <a:ln/>
        </p:spPr>
      </p:sp>
      <p:sp>
        <p:nvSpPr>
          <p:cNvPr id="33" name="Text 31"/>
          <p:cNvSpPr/>
          <p:nvPr/>
        </p:nvSpPr>
        <p:spPr>
          <a:xfrm>
            <a:off x="2847322" y="3119978"/>
            <a:ext cx="14192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22C5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847322" y="3356115"/>
            <a:ext cx="1419225" cy="4714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9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Allow forwards;</a:t>
            </a:r>
            <a:endParaRPr lang="en-US" sz="1000" dirty="0"/>
          </a:p>
          <a:p>
            <a:pPr marL="0" indent="0" algn="l">
              <a:lnSpc>
                <a:spcPts val="1239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block returns response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47322" y="3906549"/>
            <a:ext cx="14192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Enforces decision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467225" y="2996532"/>
            <a:ext cx="209550" cy="11906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62500" y="2996532"/>
            <a:ext cx="1671638" cy="1190625"/>
          </a:xfrm>
          <a:prstGeom prst="roundRect">
            <a:avLst>
              <a:gd name="adj" fmla="val 3072"/>
            </a:avLst>
          </a:prstGeom>
          <a:solidFill>
            <a:srgbClr val="132A43"/>
          </a:solidFill>
          <a:ln/>
        </p:spPr>
      </p:sp>
      <p:sp>
        <p:nvSpPr>
          <p:cNvPr id="38" name="Text 36"/>
          <p:cNvSpPr/>
          <p:nvPr/>
        </p:nvSpPr>
        <p:spPr>
          <a:xfrm>
            <a:off x="4899960" y="3119978"/>
            <a:ext cx="14192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99960" y="3277520"/>
            <a:ext cx="1419225" cy="628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9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 signup checks</a:t>
            </a:r>
            <a:endParaRPr lang="en-US" sz="1000" dirty="0"/>
          </a:p>
          <a:p>
            <a:pPr marL="0" indent="0" algn="l">
              <a:lnSpc>
                <a:spcPts val="1239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syntax, DNS/MX, disposable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9960" y="3906549"/>
            <a:ext cx="14192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Validates identity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19863" y="2996532"/>
            <a:ext cx="209550" cy="11906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15138" y="2996532"/>
            <a:ext cx="1671638" cy="1190625"/>
          </a:xfrm>
          <a:prstGeom prst="roundRect">
            <a:avLst>
              <a:gd name="adj" fmla="val 3072"/>
            </a:avLst>
          </a:prstGeom>
          <a:solidFill>
            <a:srgbClr val="132A43"/>
          </a:solidFill>
          <a:ln/>
        </p:spPr>
      </p:sp>
      <p:sp>
        <p:nvSpPr>
          <p:cNvPr id="43" name="Text 41"/>
          <p:cNvSpPr/>
          <p:nvPr/>
        </p:nvSpPr>
        <p:spPr>
          <a:xfrm>
            <a:off x="6952597" y="3119978"/>
            <a:ext cx="14192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952597" y="3277520"/>
            <a:ext cx="1419225" cy="628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9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+ metadata</a:t>
            </a:r>
            <a:endParaRPr lang="en-US" sz="1000" dirty="0"/>
          </a:p>
          <a:p>
            <a:pPr marL="0" indent="0" algn="l">
              <a:lnSpc>
                <a:spcPts val="1239"/>
              </a:lnSpc>
              <a:buNone/>
            </a:pPr>
            <a:r>
              <a:rPr lang="en-US" sz="10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 to centralized logging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52597" y="3906549"/>
            <a:ext cx="1419225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Creates audit trail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57225" y="4329762"/>
            <a:ext cx="7829550" cy="290513"/>
          </a:xfrm>
          <a:prstGeom prst="rect">
            <a:avLst/>
          </a:prstGeom>
          <a:ln/>
        </p:spPr>
      </p:sp>
      <p:sp>
        <p:nvSpPr>
          <p:cNvPr id="47" name="Text 45"/>
          <p:cNvSpPr/>
          <p:nvPr/>
        </p:nvSpPr>
        <p:spPr>
          <a:xfrm>
            <a:off x="656819" y="4448175"/>
            <a:ext cx="354806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continuous path from request to accountable outcome.</a:t>
            </a:r>
            <a:endParaRPr lang="en-US" sz="900" dirty="0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983" y="4471988"/>
            <a:ext cx="123825" cy="123825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6938459" y="4455319"/>
            <a:ext cx="1547813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INSPECT · DECIDE · RECORD</a:t>
            </a:r>
            <a:endParaRPr lang="en-US" sz="800" dirty="0"/>
          </a:p>
        </p:txBody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225" y="1890252"/>
            <a:ext cx="1671638" cy="981075"/>
          </a:xfrm>
          <a:prstGeom prst="rect">
            <a:avLst/>
          </a:prstGeom>
        </p:spPr>
      </p:pic>
      <p:pic>
        <p:nvPicPr>
          <p:cNvPr id="5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09863" y="1890252"/>
            <a:ext cx="1671638" cy="981075"/>
          </a:xfrm>
          <a:prstGeom prst="rect">
            <a:avLst/>
          </a:prstGeom>
        </p:spPr>
      </p:pic>
      <p:pic>
        <p:nvPicPr>
          <p:cNvPr id="5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0" y="1890252"/>
            <a:ext cx="1671638" cy="981075"/>
          </a:xfrm>
          <a:prstGeom prst="rect">
            <a:avLst/>
          </a:prstGeom>
        </p:spPr>
      </p:pic>
      <p:pic>
        <p:nvPicPr>
          <p:cNvPr id="5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5138" y="1890252"/>
            <a:ext cx="1671638" cy="981075"/>
          </a:xfrm>
          <a:prstGeom prst="rect">
            <a:avLst/>
          </a:prstGeom>
        </p:spPr>
      </p:pic>
      <p:pic>
        <p:nvPicPr>
          <p:cNvPr id="5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225" y="2996532"/>
            <a:ext cx="1671638" cy="1190625"/>
          </a:xfrm>
          <a:prstGeom prst="rect">
            <a:avLst/>
          </a:prstGeom>
        </p:spPr>
      </p:pic>
      <p:pic>
        <p:nvPicPr>
          <p:cNvPr id="5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9863" y="2996532"/>
            <a:ext cx="1671638" cy="1190625"/>
          </a:xfrm>
          <a:prstGeom prst="rect">
            <a:avLst/>
          </a:prstGeom>
        </p:spPr>
      </p:pic>
      <p:pic>
        <p:nvPicPr>
          <p:cNvPr id="5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500" y="2996532"/>
            <a:ext cx="1671638" cy="1190625"/>
          </a:xfrm>
          <a:prstGeom prst="rect">
            <a:avLst/>
          </a:prstGeom>
        </p:spPr>
      </p:pic>
      <p:pic>
        <p:nvPicPr>
          <p:cNvPr id="5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15138" y="2996532"/>
            <a:ext cx="1671638" cy="1190625"/>
          </a:xfrm>
          <a:prstGeom prst="rect">
            <a:avLst/>
          </a:prstGeom>
        </p:spPr>
      </p:pic>
      <p:pic>
        <p:nvPicPr>
          <p:cNvPr id="5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7225" y="4329762"/>
            <a:ext cx="7829550" cy="2905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1420"/>
          </a:solidFill>
          <a:ln/>
        </p:spPr>
      </p:sp>
      <p:sp>
        <p:nvSpPr>
          <p:cNvPr id="4" name="Text 2"/>
          <p:cNvSpPr/>
          <p:nvPr/>
        </p:nvSpPr>
        <p:spPr>
          <a:xfrm>
            <a:off x="438150" y="370988"/>
            <a:ext cx="82677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BREAKDOWN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150" y="574328"/>
            <a:ext cx="826770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38150" y="1002939"/>
            <a:ext cx="466725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Eight coordinated controls turn identity, policy, and infrastructure into one secure operating layer.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352" y="1985462"/>
            <a:ext cx="2624138" cy="2814638"/>
          </a:xfrm>
          <a:prstGeom prst="roundRect">
            <a:avLst>
              <a:gd name="adj" fmla="val 1138"/>
            </a:avLst>
          </a:prstGeom>
          <a:solidFill>
            <a:srgbClr val="0F172A"/>
          </a:solidFill>
          <a:ln/>
        </p:spPr>
      </p:sp>
      <p:sp>
        <p:nvSpPr>
          <p:cNvPr id="8" name="Shape 6"/>
          <p:cNvSpPr/>
          <p:nvPr/>
        </p:nvSpPr>
        <p:spPr>
          <a:xfrm>
            <a:off x="628650" y="2184986"/>
            <a:ext cx="276225" cy="276225"/>
          </a:xfrm>
          <a:prstGeom prst="roundRect">
            <a:avLst>
              <a:gd name="adj" fmla="val 19976"/>
            </a:avLst>
          </a:prstGeom>
          <a:solidFill>
            <a:srgbClr val="12324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2251661"/>
            <a:ext cx="142875" cy="1428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1263" y="2234993"/>
            <a:ext cx="12287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 &amp; Trust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9787" y="2621946"/>
            <a:ext cx="109537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26629" y="2623610"/>
            <a:ext cx="2043113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/ Network Identification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6629" y="2810768"/>
            <a:ext cx="2043113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Recognizes users, sessions, and network context.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28718" y="3224862"/>
            <a:ext cx="13335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46994" y="3226526"/>
            <a:ext cx="2024062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Email-Domain Validator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46994" y="3413684"/>
            <a:ext cx="2024062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Checks domains against access requirements.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28542" y="3827778"/>
            <a:ext cx="138113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51579" y="3829442"/>
            <a:ext cx="2019300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Disposable Email Database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51579" y="4016601"/>
            <a:ext cx="20193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Flags temporary or high-risk email sources.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259914" y="1985462"/>
            <a:ext cx="2624138" cy="2814638"/>
          </a:xfrm>
          <a:prstGeom prst="roundRect">
            <a:avLst>
              <a:gd name="adj" fmla="val 1138"/>
            </a:avLst>
          </a:prstGeom>
          <a:solidFill>
            <a:srgbClr val="10243A"/>
          </a:solidFill>
          <a:ln w="3464">
            <a:solidFill>
              <a:srgbClr val="00D4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54678" y="2188450"/>
            <a:ext cx="276225" cy="276225"/>
          </a:xfrm>
          <a:prstGeom prst="roundRect">
            <a:avLst>
              <a:gd name="adj" fmla="val 19976"/>
            </a:avLst>
          </a:prstGeom>
          <a:solidFill>
            <a:srgbClr val="063B54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1353" y="2255125"/>
            <a:ext cx="142875" cy="14287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816628" y="2238456"/>
            <a:ext cx="13239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&amp; Content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454285" y="2625409"/>
            <a:ext cx="13335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673859" y="2627074"/>
            <a:ext cx="201453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Proxy / Middleware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673859" y="2814232"/>
            <a:ext cx="2014538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Routes traffic through controlled enforcement points.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454069" y="3228326"/>
            <a:ext cx="13335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673643" y="3229990"/>
            <a:ext cx="201453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Classification Engine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673643" y="3417148"/>
            <a:ext cx="2014538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Interprets content before policy decisions.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454908" y="3831242"/>
            <a:ext cx="14287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00" b="1" dirty="0">
                <a:solidFill>
                  <a:srgbClr val="00D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3684009" y="3832906"/>
            <a:ext cx="2005012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Age-Based Policy Manager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3684009" y="4020064"/>
            <a:ext cx="2005012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C7D2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Applies age-aware access and content rules.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6082495" y="1985462"/>
            <a:ext cx="2624138" cy="2814638"/>
          </a:xfrm>
          <a:prstGeom prst="roundRect">
            <a:avLst>
              <a:gd name="adj" fmla="val 1138"/>
            </a:avLst>
          </a:prstGeom>
          <a:solidFill>
            <a:srgbClr val="0F172A"/>
          </a:solidFill>
          <a:ln/>
        </p:spPr>
      </p:sp>
      <p:sp>
        <p:nvSpPr>
          <p:cNvPr id="34" name="Shape 30"/>
          <p:cNvSpPr/>
          <p:nvPr/>
        </p:nvSpPr>
        <p:spPr>
          <a:xfrm>
            <a:off x="6273780" y="2184986"/>
            <a:ext cx="276225" cy="276225"/>
          </a:xfrm>
          <a:prstGeom prst="roundRect">
            <a:avLst>
              <a:gd name="adj" fmla="val 19976"/>
            </a:avLst>
          </a:prstGeom>
          <a:solidFill>
            <a:srgbClr val="28224A"/>
          </a:solidFill>
          <a:ln/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455" y="2251661"/>
            <a:ext cx="142875" cy="142875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635324" y="2234993"/>
            <a:ext cx="186690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 &amp; Insight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6272589" y="2621946"/>
            <a:ext cx="138113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6495642" y="2623610"/>
            <a:ext cx="2019300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Firewall Controller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6495642" y="2810768"/>
            <a:ext cx="20193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Enforces network-level allow and deny actions.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6274876" y="3224862"/>
            <a:ext cx="138113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6500309" y="3226526"/>
            <a:ext cx="2014538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Logging &amp; Monitoring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6500309" y="3413684"/>
            <a:ext cx="2014538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Makes decisions observable, traceable, and reviewable.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6272995" y="4195303"/>
            <a:ext cx="2243138" cy="4048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spcBef>
                <a:spcPts val="3931"/>
              </a:spcBef>
              <a:buNone/>
            </a:pPr>
            <a:r>
              <a:rPr lang="en-US" sz="8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module strengthens the control loop.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1101</Words>
  <Application>Microsoft Office PowerPoint</Application>
  <PresentationFormat>On-screen Show (16:9)</PresentationFormat>
  <Paragraphs>210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Montserrat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Karthikeya Boini</cp:lastModifiedBy>
  <cp:revision>4</cp:revision>
  <dcterms:created xsi:type="dcterms:W3CDTF">2026-09-25T17:18:36Z</dcterms:created>
  <dcterms:modified xsi:type="dcterms:W3CDTF">2026-09-25T18:28:54Z</dcterms:modified>
</cp:coreProperties>
</file>