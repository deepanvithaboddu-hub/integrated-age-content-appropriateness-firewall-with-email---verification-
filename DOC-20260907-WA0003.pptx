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9750" y="1047750"/>
            <a:ext cx="444500" cy="438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7700" y="1149350"/>
            <a:ext cx="228600" cy="234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96360" y="1663700"/>
            <a:ext cx="13271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2" b="1" sz="900">
                <a:solidFill>
                  <a:srgbClr val="7DD3C7"/>
                </a:solidFill>
                <a:latin typeface="Noto Serif"/>
              </a:rPr>
              <a:t>SECURE DIGITAL ACCESS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300" y="1948180"/>
            <a:ext cx="6446520" cy="317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0" b="1" sz="2500">
                <a:solidFill>
                  <a:srgbClr val="FFFFFF"/>
                </a:solidFill>
                <a:latin typeface="Noto Serif"/>
              </a:rPr>
              <a:t>Integrated Age- and Content-Appropriateness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2360" y="2329180"/>
            <a:ext cx="4390390" cy="317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07" b="1" sz="2500">
                <a:solidFill>
                  <a:srgbClr val="FFFFFF"/>
                </a:solidFill>
                <a:latin typeface="Noto Serif"/>
              </a:rPr>
              <a:t>Firewall with Email Verification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4200" y="3307079"/>
            <a:ext cx="28727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200">
                <a:solidFill>
                  <a:srgbClr val="D9E2EC"/>
                </a:solidFill>
                <a:latin typeface="Noto Serif"/>
              </a:rPr>
              <a:t>Under the Guidance of: Mrs. Shanti Kumari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56760"/>
            <a:ext cx="119888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8" b="1" sz="800">
                <a:solidFill>
                  <a:srgbClr val="7DD3C7"/>
                </a:solidFill>
                <a:latin typeface="Noto Serif"/>
              </a:rPr>
              <a:t>PROJECT PRESENTATION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33640" y="4556760"/>
            <a:ext cx="113156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2" b="1" sz="800">
                <a:solidFill>
                  <a:srgbClr val="FFFFFF"/>
                </a:solidFill>
                <a:latin typeface="Noto Serif"/>
              </a:rPr>
              <a:t>Cyber-Safety Framework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26940"/>
            <a:ext cx="1957070" cy="88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" sz="700">
                <a:solidFill>
                  <a:srgbClr val="D9E2EC"/>
                </a:solidFill>
                <a:latin typeface="Noto Serif"/>
              </a:rPr>
              <a:t>Protecting young users through controlled access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1740" y="4726940"/>
            <a:ext cx="1106169" cy="88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4" sz="700">
                <a:solidFill>
                  <a:srgbClr val="D9E2EC"/>
                </a:solidFill>
                <a:latin typeface="Noto Serif"/>
              </a:rPr>
              <a:t>Verification · Filtering · Trust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0" y="3124200"/>
            <a:ext cx="76200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457200"/>
            <a:ext cx="133350" cy="133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760" y="1742439"/>
            <a:ext cx="7142480" cy="291592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2250" y="2101850"/>
            <a:ext cx="146050" cy="146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8040" y="463550"/>
            <a:ext cx="108966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0" b="1" sz="900">
                <a:solidFill>
                  <a:srgbClr val="5EEAD4"/>
                </a:solidFill>
                <a:latin typeface="Noto Serif"/>
              </a:rPr>
              <a:t>PROJECT OVERVIEW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760" y="732790"/>
            <a:ext cx="130937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37" b="1" sz="2700">
                <a:solidFill>
                  <a:srgbClr val="FFFFFF"/>
                </a:solidFill>
                <a:latin typeface="Noto Serif"/>
              </a:rPr>
              <a:t>Abstract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4660" y="2110740"/>
            <a:ext cx="2341879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1" b="1" sz="900">
                <a:solidFill>
                  <a:srgbClr val="0F766E"/>
                </a:solidFill>
                <a:latin typeface="Noto Serif"/>
              </a:rPr>
              <a:t>SAFE ACCESS AT THE NETWORK BOUNDARY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4790" y="2461260"/>
            <a:ext cx="604774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5" sz="1300">
                <a:solidFill>
                  <a:srgbClr val="1F2937"/>
                </a:solidFill>
                <a:latin typeface="Noto Serif"/>
              </a:rPr>
              <a:t>This project proposes a practical firewall that combines age-based access control,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4790" y="2698750"/>
            <a:ext cx="54991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0" sz="1300">
                <a:solidFill>
                  <a:srgbClr val="1F2937"/>
                </a:solidFill>
                <a:latin typeface="Noto Serif"/>
              </a:rPr>
              <a:t>real-time content appropriateness checks, and email-domain verification. It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4790" y="2937510"/>
            <a:ext cx="59817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4" sz="1300">
                <a:solidFill>
                  <a:srgbClr val="1F2937"/>
                </a:solidFill>
                <a:latin typeface="Noto Serif"/>
              </a:rPr>
              <a:t>evaluates URLs and page content before access, applies rules for student or staff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4790" y="3175000"/>
            <a:ext cx="61950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3" sz="1300">
                <a:solidFill>
                  <a:srgbClr val="1F2937"/>
                </a:solidFill>
                <a:latin typeface="Noto Serif"/>
              </a:rPr>
              <a:t>profiles, and validates MX records to block suspicious, disposable, or fake domains—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4790" y="3413760"/>
            <a:ext cx="608457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2" sz="1300">
                <a:solidFill>
                  <a:srgbClr val="1F2937"/>
                </a:solidFill>
                <a:latin typeface="Noto Serif"/>
              </a:rPr>
              <a:t>helping institutions reduce unsafe browsing and risky registrations while creating a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4790" y="3651250"/>
            <a:ext cx="25501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6" sz="1300">
                <a:solidFill>
                  <a:srgbClr val="1F2937"/>
                </a:solidFill>
                <a:latin typeface="Noto Serif"/>
              </a:rPr>
              <a:t>scalable, safer digital environment.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0" y="0"/>
            <a:ext cx="2476500" cy="4826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950" y="1739900"/>
            <a:ext cx="7150100" cy="292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50" y="1962150"/>
            <a:ext cx="5416550" cy="2832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349500"/>
            <a:ext cx="234950" cy="234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3244850"/>
            <a:ext cx="234950" cy="234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200" y="4140200"/>
            <a:ext cx="234950" cy="234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3950" y="1962150"/>
            <a:ext cx="2482850" cy="2832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7150" y="2190750"/>
            <a:ext cx="25400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377190"/>
            <a:ext cx="116840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6" b="1" sz="900">
                <a:solidFill>
                  <a:srgbClr val="14B8A6"/>
                </a:solidFill>
                <a:latin typeface="Noto Serif"/>
              </a:rPr>
              <a:t>RESEARCH SUMMARY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4840"/>
            <a:ext cx="2434590" cy="317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30" b="1" sz="2500">
                <a:solidFill>
                  <a:srgbClr val="FFFFFF"/>
                </a:solidFill>
                <a:latin typeface="Noto Serif"/>
              </a:rPr>
              <a:t>Literature Survey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37590"/>
            <a:ext cx="54317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7" sz="1100">
                <a:solidFill>
                  <a:srgbClr val="D9E2EC"/>
                </a:solidFill>
                <a:latin typeface="Noto Serif"/>
              </a:rPr>
              <a:t>Prior work establishes strong building blocks for safer access—but keeps browsing and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228090"/>
            <a:ext cx="206248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8" sz="1100">
                <a:solidFill>
                  <a:srgbClr val="D9E2EC"/>
                </a:solidFill>
                <a:latin typeface="Noto Serif"/>
              </a:rPr>
              <a:t>email protection largely separate.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740" y="2063750"/>
            <a:ext cx="159893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0" b="1" sz="900">
                <a:solidFill>
                  <a:srgbClr val="0F766E"/>
                </a:solidFill>
                <a:latin typeface="Noto Serif"/>
              </a:rPr>
              <a:t>WHAT THE RESEARCH SHOWS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2406650"/>
            <a:ext cx="12954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b="1" sz="900">
                <a:solidFill>
                  <a:srgbClr val="0F766E"/>
                </a:solidFill>
                <a:latin typeface="Noto Serif"/>
              </a:rPr>
              <a:t>01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640" y="2373630"/>
            <a:ext cx="25603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5" b="1" sz="1200">
                <a:solidFill>
                  <a:srgbClr val="0B1F3A"/>
                </a:solidFill>
                <a:latin typeface="Noto Serif"/>
              </a:rPr>
              <a:t>Layered web enforcement works best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640" y="2597150"/>
            <a:ext cx="443357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5" sz="900">
                <a:solidFill>
                  <a:srgbClr val="1F2937"/>
                </a:solidFill>
                <a:latin typeface="Noto Serif"/>
              </a:rPr>
              <a:t>Filtering, age-based policy rules, proxies, and real-time classification improve controlled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960" y="2559050"/>
            <a:ext cx="1244599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0" b="1" sz="900">
                <a:solidFill>
                  <a:srgbClr val="D9F7F3"/>
                </a:solidFill>
                <a:latin typeface="Noto Serif"/>
              </a:rPr>
              <a:t>IDENTIFIED LIMITATION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640" y="2758440"/>
            <a:ext cx="391159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900">
                <a:solidFill>
                  <a:srgbClr val="1F2937"/>
                </a:solidFill>
                <a:latin typeface="Noto Serif"/>
              </a:rPr>
              <a:t>access.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0960" y="2824480"/>
            <a:ext cx="182753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9" b="1" sz="1400">
                <a:solidFill>
                  <a:srgbClr val="FFFFFF"/>
                </a:solidFill>
                <a:latin typeface="Noto Serif"/>
              </a:rPr>
              <a:t>Most solutions protect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0960" y="3034030"/>
            <a:ext cx="184784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3" b="1" sz="1400">
                <a:solidFill>
                  <a:srgbClr val="FFFFFF"/>
                </a:solidFill>
                <a:latin typeface="Noto Serif"/>
              </a:rPr>
              <a:t>browsing or email—not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3302000"/>
            <a:ext cx="12954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b="1" sz="900">
                <a:solidFill>
                  <a:srgbClr val="0F766E"/>
                </a:solidFill>
                <a:latin typeface="Noto Serif"/>
              </a:rPr>
              <a:t>02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640" y="3268979"/>
            <a:ext cx="23825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7" b="1" sz="1200">
                <a:solidFill>
                  <a:srgbClr val="0B1F3A"/>
                </a:solidFill>
                <a:latin typeface="Noto Serif"/>
              </a:rPr>
              <a:t>Email trust depends on verification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0960" y="3243580"/>
            <a:ext cx="406399" cy="1777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41" b="1" sz="1400">
                <a:solidFill>
                  <a:srgbClr val="FFFFFF"/>
                </a:solidFill>
                <a:latin typeface="Noto Serif"/>
              </a:rPr>
              <a:t>both.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640" y="3492500"/>
            <a:ext cx="439928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2" sz="900">
                <a:solidFill>
                  <a:srgbClr val="1F2937"/>
                </a:solidFill>
                <a:latin typeface="Noto Serif"/>
              </a:rPr>
              <a:t>SPF, DKIM, DMARC, and MX checks help validate sender domains and reduce spoofing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640" y="3653790"/>
            <a:ext cx="214629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9" sz="900">
                <a:solidFill>
                  <a:srgbClr val="1F2937"/>
                </a:solidFill>
                <a:latin typeface="Noto Serif"/>
              </a:rPr>
              <a:t>risk.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0960" y="3844290"/>
            <a:ext cx="961389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b="1" sz="900">
                <a:solidFill>
                  <a:srgbClr val="D9F7F3"/>
                </a:solidFill>
                <a:latin typeface="Noto Serif"/>
              </a:rPr>
              <a:t>Research direction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0960" y="4056379"/>
            <a:ext cx="179451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9" sz="1000">
                <a:solidFill>
                  <a:srgbClr val="FFFFFF"/>
                </a:solidFill>
                <a:latin typeface="Noto Serif"/>
              </a:rPr>
              <a:t>An integrated policy engine can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4197350"/>
            <a:ext cx="12954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b="1" sz="900">
                <a:solidFill>
                  <a:srgbClr val="C2410C"/>
                </a:solidFill>
                <a:latin typeface="Noto Serif"/>
              </a:rPr>
              <a:t>03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640" y="4164329"/>
            <a:ext cx="26898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4" b="1" sz="1200">
                <a:solidFill>
                  <a:srgbClr val="0B1F3A"/>
                </a:solidFill>
                <a:latin typeface="Noto Serif"/>
              </a:rPr>
              <a:t>Key gaps remain at the policy boundary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0960" y="4227830"/>
            <a:ext cx="172593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5" sz="1000">
                <a:solidFill>
                  <a:srgbClr val="FFFFFF"/>
                </a:solidFill>
                <a:latin typeface="Noto Serif"/>
              </a:rPr>
              <a:t>connect access control, traffic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640" y="4387850"/>
            <a:ext cx="432181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9" sz="900">
                <a:solidFill>
                  <a:srgbClr val="1F2937"/>
                </a:solidFill>
                <a:latin typeface="Noto Serif"/>
              </a:rPr>
              <a:t>Disposable-email detection and student-safe access policies remain underdeveloped.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0960" y="4399280"/>
            <a:ext cx="163576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6" sz="1000">
                <a:solidFill>
                  <a:srgbClr val="FFFFFF"/>
                </a:solidFill>
                <a:latin typeface="Noto Serif"/>
              </a:rPr>
              <a:t>inspection, and domain trust.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6640" y="3075940"/>
            <a:ext cx="4554220" cy="1016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6640" y="3972560"/>
            <a:ext cx="4554220" cy="8889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7150" y="3657600"/>
            <a:ext cx="2082800" cy="908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1911350"/>
            <a:ext cx="4019550" cy="2241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50" y="2159000"/>
            <a:ext cx="279400" cy="27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2228850"/>
            <a:ext cx="146050" cy="146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050" y="2647950"/>
            <a:ext cx="127000" cy="127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050" y="2940050"/>
            <a:ext cx="127000" cy="127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050" y="3225800"/>
            <a:ext cx="127000" cy="127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6300" y="1911350"/>
            <a:ext cx="4019550" cy="2241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2200" y="2159000"/>
            <a:ext cx="279400" cy="279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72050" y="2228850"/>
            <a:ext cx="146050" cy="146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2200" y="2647950"/>
            <a:ext cx="127000" cy="127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2200" y="3111500"/>
            <a:ext cx="127000" cy="127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2200" y="3568700"/>
            <a:ext cx="127000" cy="127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800" y="4343400"/>
            <a:ext cx="827405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5950" y="4495800"/>
            <a:ext cx="146050" cy="1460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38150" y="377190"/>
            <a:ext cx="193167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5" b="1" sz="900">
                <a:solidFill>
                  <a:srgbClr val="14B8A6"/>
                </a:solidFill>
                <a:latin typeface="Noto Serif"/>
              </a:rPr>
              <a:t>CURRENT STATE · CONTENT SAFETY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150" y="614680"/>
            <a:ext cx="2292350" cy="317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62" b="1" sz="2500">
                <a:solidFill>
                  <a:srgbClr val="FFFFFF"/>
                </a:solidFill>
                <a:latin typeface="Noto Serif"/>
              </a:rPr>
              <a:t>Existing System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150" y="1018540"/>
            <a:ext cx="49339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5" sz="1100">
                <a:solidFill>
                  <a:srgbClr val="D9E2EC"/>
                </a:solidFill>
                <a:latin typeface="Noto Serif"/>
              </a:rPr>
              <a:t>Today’s controls are fragmented: they block known signals, not harmful context.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650" y="2137410"/>
            <a:ext cx="86486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5" b="1" sz="1300">
                <a:solidFill>
                  <a:srgbClr val="0B1F3A"/>
                </a:solidFill>
                <a:latin typeface="Noto Serif"/>
              </a:rPr>
              <a:t>What exists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137410"/>
            <a:ext cx="115823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3" b="1" sz="1300">
                <a:solidFill>
                  <a:srgbClr val="0B1F3A"/>
                </a:solidFill>
                <a:latin typeface="Noto Serif"/>
              </a:rPr>
              <a:t>Where it breaks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9650" y="2368550"/>
            <a:ext cx="1856739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2" sz="900">
                <a:solidFill>
                  <a:srgbClr val="64748B"/>
                </a:solidFill>
                <a:latin typeface="Noto Serif"/>
              </a:rPr>
              <a:t>Basic controls target familiar signals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2368550"/>
            <a:ext cx="210947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6" sz="900">
                <a:solidFill>
                  <a:srgbClr val="64748B"/>
                </a:solidFill>
                <a:latin typeface="Noto Serif"/>
              </a:rPr>
              <a:t>Known-signal defenses miss evolving risk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140" y="2655570"/>
            <a:ext cx="210312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8" sz="1000">
                <a:solidFill>
                  <a:srgbClr val="1F2937"/>
                </a:solidFill>
                <a:latin typeface="Noto Serif"/>
              </a:rPr>
              <a:t>URL blacklists and keyword matching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14290" y="2655570"/>
            <a:ext cx="309118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4" sz="1000">
                <a:solidFill>
                  <a:srgbClr val="1F2937"/>
                </a:solidFill>
                <a:latin typeface="Noto Serif"/>
              </a:rPr>
              <a:t>Alternate accounts and proxies bypass age restrictions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140" y="2941320"/>
            <a:ext cx="245618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1" sz="1000">
                <a:solidFill>
                  <a:srgbClr val="1F2937"/>
                </a:solidFill>
                <a:latin typeface="Noto Serif"/>
              </a:rPr>
              <a:t>Firewalls enforce ports, protocols, and rules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4290" y="3112770"/>
            <a:ext cx="297434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1" sz="1000">
                <a:solidFill>
                  <a:srgbClr val="1F2937"/>
                </a:solidFill>
                <a:latin typeface="Noto Serif"/>
              </a:rPr>
              <a:t>No real-time understanding of page or media context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6140" y="3227070"/>
            <a:ext cx="25908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0" sz="1000">
                <a:solidFill>
                  <a:srgbClr val="1F2937"/>
                </a:solidFill>
                <a:latin typeface="Noto Serif"/>
              </a:rPr>
              <a:t>Age gates and email checks add basic friction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14290" y="3580129"/>
            <a:ext cx="309118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1" sz="1000">
                <a:solidFill>
                  <a:srgbClr val="1F2937"/>
                </a:solidFill>
                <a:latin typeface="Noto Serif"/>
              </a:rPr>
              <a:t>Separate tools create gaps and miss new harmful sites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300" y="4503420"/>
            <a:ext cx="454787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" b="1" sz="1000">
                <a:solidFill>
                  <a:srgbClr val="FFFFFF"/>
                </a:solidFill>
                <a:latin typeface="Noto Serif"/>
              </a:rPr>
              <a:t>Core gap: fragmented checks cannot consistently prevent inappropriate access.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50" y="2044700"/>
            <a:ext cx="2622550" cy="2451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2266950"/>
            <a:ext cx="34925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200" y="2349500"/>
            <a:ext cx="184150" cy="184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1200" y="2044700"/>
            <a:ext cx="2628900" cy="2451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5950" y="1949450"/>
            <a:ext cx="2819400" cy="2641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0750" y="2273300"/>
            <a:ext cx="349250" cy="349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43300" y="2355850"/>
            <a:ext cx="1841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76950" y="2044700"/>
            <a:ext cx="2622550" cy="2451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3800" y="2260600"/>
            <a:ext cx="349250" cy="349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2700" y="2349500"/>
            <a:ext cx="184150" cy="1841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8150" y="387350"/>
            <a:ext cx="116459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5" b="1" sz="900">
                <a:solidFill>
                  <a:srgbClr val="5EEAD4"/>
                </a:solidFill>
                <a:latin typeface="Noto Serif"/>
              </a:rPr>
              <a:t>PROPOSED SOLUTION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150" y="652780"/>
            <a:ext cx="5050790" cy="317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54" b="1" sz="2500">
                <a:solidFill>
                  <a:srgbClr val="FFFFFF"/>
                </a:solidFill>
                <a:latin typeface="Noto Serif"/>
              </a:rPr>
              <a:t>Safer access, verified at every layer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150" y="1059180"/>
            <a:ext cx="615695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7" sz="1200">
                <a:solidFill>
                  <a:srgbClr val="D9E2EC"/>
                </a:solidFill>
                <a:latin typeface="Noto Serif"/>
              </a:rPr>
              <a:t>A unified system combines real-time content intelligence, firewall enforcement, and trusted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150" y="1258570"/>
            <a:ext cx="119633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9" sz="1200">
                <a:solidFill>
                  <a:srgbClr val="D9E2EC"/>
                </a:solidFill>
                <a:latin typeface="Noto Serif"/>
              </a:rPr>
              <a:t>email verification.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" y="2804160"/>
            <a:ext cx="11684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4" b="1" sz="1300">
                <a:solidFill>
                  <a:srgbClr val="0B1F3A"/>
                </a:solidFill>
                <a:latin typeface="Noto Serif"/>
              </a:rPr>
              <a:t>Content Control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7100" y="2804160"/>
            <a:ext cx="156972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4" b="1" sz="1300">
                <a:solidFill>
                  <a:srgbClr val="0B1F3A"/>
                </a:solidFill>
                <a:latin typeface="Noto Serif"/>
              </a:rPr>
              <a:t>Firewall Enforcement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6340" y="2804160"/>
            <a:ext cx="130936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0" b="1" sz="1300">
                <a:solidFill>
                  <a:srgbClr val="0B1F3A"/>
                </a:solidFill>
                <a:latin typeface="Noto Serif"/>
              </a:rPr>
              <a:t>Email Verification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50" y="3084830"/>
            <a:ext cx="221234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6" sz="1000">
                <a:solidFill>
                  <a:srgbClr val="1F2937"/>
                </a:solidFill>
                <a:latin typeface="Noto Serif"/>
              </a:rPr>
              <a:t>URLs and page content are analyzed in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7100" y="3093720"/>
            <a:ext cx="194437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2" sz="1000">
                <a:solidFill>
                  <a:srgbClr val="1F2937"/>
                </a:solidFill>
                <a:latin typeface="Noto Serif"/>
              </a:rPr>
              <a:t>Policy-violating pages are blocked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6340" y="3084830"/>
            <a:ext cx="202818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6" sz="1000">
                <a:solidFill>
                  <a:srgbClr val="1F2937"/>
                </a:solidFill>
                <a:latin typeface="Noto Serif"/>
              </a:rPr>
              <a:t>Domain validity and MX records are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" y="3256279"/>
            <a:ext cx="199263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3" sz="1000">
                <a:solidFill>
                  <a:srgbClr val="1F2937"/>
                </a:solidFill>
                <a:latin typeface="Noto Serif"/>
              </a:rPr>
              <a:t>real time against each user group’s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67100" y="3265170"/>
            <a:ext cx="201422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9" sz="1000">
                <a:solidFill>
                  <a:srgbClr val="1F2937"/>
                </a:solidFill>
                <a:latin typeface="Noto Serif"/>
              </a:rPr>
              <a:t>automatically before they reach the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6340" y="3256279"/>
            <a:ext cx="166623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5" sz="1000">
                <a:solidFill>
                  <a:srgbClr val="1F2937"/>
                </a:solidFill>
                <a:latin typeface="Noto Serif"/>
              </a:rPr>
              <a:t>checked to reject disposable,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650" y="3427729"/>
            <a:ext cx="62611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2" sz="1000">
                <a:solidFill>
                  <a:srgbClr val="1F2937"/>
                </a:solidFill>
                <a:latin typeface="Noto Serif"/>
              </a:rPr>
              <a:t>age profile.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7100" y="3436620"/>
            <a:ext cx="75692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7" sz="1000">
                <a:solidFill>
                  <a:srgbClr val="1F2937"/>
                </a:solidFill>
                <a:latin typeface="Noto Serif"/>
              </a:rPr>
              <a:t>network user.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6340" y="3427729"/>
            <a:ext cx="173736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9" sz="1000">
                <a:solidFill>
                  <a:srgbClr val="1F2937"/>
                </a:solidFill>
                <a:latin typeface="Noto Serif"/>
              </a:rPr>
              <a:t>suspicious, and fake accounts.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67100" y="3798570"/>
            <a:ext cx="170433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2" sz="1000">
                <a:solidFill>
                  <a:srgbClr val="0F766E"/>
                </a:solidFill>
                <a:latin typeface="Noto Serif"/>
              </a:rPr>
              <a:t>•</a:t>
            </a:r>
            <a:r>
              <a:rPr spc="-40" sz="800">
                <a:solidFill>
                  <a:srgbClr val="1F2937"/>
                </a:solidFill>
                <a:latin typeface="Noto Serif"/>
              </a:rPr>
              <a:t>Institutional policy enforced centrally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6340" y="3808729"/>
            <a:ext cx="179705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2" sz="1000">
                <a:solidFill>
                  <a:srgbClr val="B45309"/>
                </a:solidFill>
                <a:latin typeface="Noto Serif"/>
              </a:rPr>
              <a:t>•</a:t>
            </a:r>
            <a:r>
              <a:rPr spc="-40" sz="800">
                <a:solidFill>
                  <a:srgbClr val="1F2937"/>
                </a:solidFill>
                <a:latin typeface="Noto Serif"/>
              </a:rPr>
              <a:t>Trusted domains verified automatically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650" y="3950970"/>
            <a:ext cx="153923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2" sz="1000">
                <a:solidFill>
                  <a:srgbClr val="0F766E"/>
                </a:solidFill>
                <a:latin typeface="Noto Serif"/>
              </a:rPr>
              <a:t>•</a:t>
            </a:r>
            <a:r>
              <a:rPr spc="-32" sz="800">
                <a:solidFill>
                  <a:srgbClr val="1F2937"/>
                </a:solidFill>
                <a:latin typeface="Noto Serif"/>
              </a:rPr>
              <a:t>Categories allowed by age profile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67100" y="4027170"/>
            <a:ext cx="185927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2" sz="1000">
                <a:solidFill>
                  <a:srgbClr val="EF4444"/>
                </a:solidFill>
                <a:latin typeface="Noto Serif"/>
              </a:rPr>
              <a:t>•</a:t>
            </a:r>
            <a:r>
              <a:rPr spc="-36" sz="800">
                <a:solidFill>
                  <a:srgbClr val="1F2937"/>
                </a:solidFill>
                <a:latin typeface="Noto Serif"/>
              </a:rPr>
              <a:t>Unauthorized pages rejected in real time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650" y="4179570"/>
            <a:ext cx="170815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2" sz="1000">
                <a:solidFill>
                  <a:srgbClr val="0F766E"/>
                </a:solidFill>
                <a:latin typeface="Noto Serif"/>
              </a:rPr>
              <a:t>•</a:t>
            </a:r>
            <a:r>
              <a:rPr spc="-36" sz="800">
                <a:solidFill>
                  <a:srgbClr val="1F2937"/>
                </a:solidFill>
                <a:latin typeface="Noto Serif"/>
              </a:rPr>
              <a:t>Safer browsing for institutional users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6340" y="4179570"/>
            <a:ext cx="176276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2" sz="1000">
                <a:solidFill>
                  <a:srgbClr val="EF4444"/>
                </a:solidFill>
                <a:latin typeface="Noto Serif"/>
              </a:rPr>
              <a:t>•</a:t>
            </a:r>
            <a:r>
              <a:rPr spc="-31" sz="800">
                <a:solidFill>
                  <a:srgbClr val="1F2937"/>
                </a:solidFill>
                <a:latin typeface="Noto Serif"/>
              </a:rPr>
              <a:t>Suspicious registrations rejected early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650" y="4690110"/>
            <a:ext cx="330072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8" sz="800">
                <a:solidFill>
                  <a:srgbClr val="D9E2EC"/>
                </a:solidFill>
                <a:latin typeface="Noto Serif"/>
              </a:rPr>
              <a:t>One protective layer for safer browsing and more trustworthy registration.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8150" y="4679950"/>
            <a:ext cx="114300" cy="120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50" y="2095500"/>
            <a:ext cx="2616200" cy="2355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2305050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1200" y="2095500"/>
            <a:ext cx="2616200" cy="2355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7100" y="2305050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4250" y="2095500"/>
            <a:ext cx="2616200" cy="2355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3800" y="2305050"/>
            <a:ext cx="19685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06400"/>
            <a:ext cx="1189989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5" b="1" sz="900">
                <a:solidFill>
                  <a:srgbClr val="5EEAD4"/>
                </a:solidFill>
                <a:latin typeface="Noto Serif"/>
              </a:rPr>
              <a:t>PROJECT OBJECTIVES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6590"/>
            <a:ext cx="462661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96" b="1" sz="2700">
                <a:solidFill>
                  <a:srgbClr val="FFFFFF"/>
                </a:solidFill>
                <a:latin typeface="Noto Serif"/>
              </a:rPr>
              <a:t>Build a safer digital perimeter.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87120"/>
            <a:ext cx="49009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8" sz="1200">
                <a:solidFill>
                  <a:srgbClr val="D9E2EC"/>
                </a:solidFill>
                <a:latin typeface="Noto Serif"/>
              </a:rPr>
              <a:t>Three technical goals connect intelligent filtering, controlled access, and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287780"/>
            <a:ext cx="15735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9" sz="1200">
                <a:solidFill>
                  <a:srgbClr val="D9E2EC"/>
                </a:solidFill>
                <a:latin typeface="Noto Serif"/>
              </a:rPr>
              <a:t>trusted identity checks.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3040" y="2357120"/>
            <a:ext cx="11557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5" b="1" sz="800">
                <a:solidFill>
                  <a:srgbClr val="64748B"/>
                </a:solidFill>
                <a:latin typeface="Noto Serif"/>
              </a:rPr>
              <a:t>01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14340" y="2357120"/>
            <a:ext cx="11557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5" b="1" sz="800">
                <a:solidFill>
                  <a:srgbClr val="64748B"/>
                </a:solidFill>
                <a:latin typeface="Noto Serif"/>
              </a:rPr>
              <a:t>02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4850" y="2357120"/>
            <a:ext cx="11557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5" b="1" sz="800">
                <a:solidFill>
                  <a:srgbClr val="64748B"/>
                </a:solidFill>
                <a:latin typeface="Noto Serif"/>
              </a:rPr>
              <a:t>03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2651760"/>
            <a:ext cx="148971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0" b="1" sz="1300">
                <a:solidFill>
                  <a:srgbClr val="0B1F3A"/>
                </a:solidFill>
                <a:latin typeface="Noto Serif"/>
              </a:rPr>
              <a:t>Content intelligence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7100" y="2651760"/>
            <a:ext cx="144272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3" b="1" sz="1300">
                <a:solidFill>
                  <a:srgbClr val="0B1F3A"/>
                </a:solidFill>
                <a:latin typeface="Noto Serif"/>
              </a:rPr>
              <a:t>Policy enforcement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6340" y="2651760"/>
            <a:ext cx="137033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1" b="1" sz="1300">
                <a:solidFill>
                  <a:srgbClr val="0B1F3A"/>
                </a:solidFill>
                <a:latin typeface="Noto Serif"/>
              </a:rPr>
              <a:t>Email trust checks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2964180"/>
            <a:ext cx="11811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50" b="1" sz="1800">
                <a:solidFill>
                  <a:srgbClr val="0F766E"/>
                </a:solidFill>
                <a:latin typeface="Noto Serif"/>
              </a:rPr>
              <a:t>REAL-TIME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7100" y="2964180"/>
            <a:ext cx="1033779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6" b="1" sz="1800">
                <a:solidFill>
                  <a:srgbClr val="0F766E"/>
                </a:solidFill>
                <a:latin typeface="Noto Serif"/>
              </a:rPr>
              <a:t>CONTROL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6340" y="2964180"/>
            <a:ext cx="7543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89" b="1" sz="1800">
                <a:solidFill>
                  <a:srgbClr val="0F766E"/>
                </a:solidFill>
                <a:latin typeface="Noto Serif"/>
              </a:rPr>
              <a:t>VERIFY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7100" y="3741420"/>
            <a:ext cx="192151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5" sz="1000">
                <a:solidFill>
                  <a:srgbClr val="1F2937"/>
                </a:solidFill>
                <a:latin typeface="Noto Serif"/>
              </a:rPr>
              <a:t>Use firewall-based access control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6340" y="3713479"/>
            <a:ext cx="175006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6" sz="1000">
                <a:solidFill>
                  <a:srgbClr val="1F2937"/>
                </a:solidFill>
                <a:latin typeface="Noto Serif"/>
              </a:rPr>
              <a:t>Validate MX records and block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50" y="3923029"/>
            <a:ext cx="161543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9" sz="1000">
                <a:solidFill>
                  <a:srgbClr val="1F2937"/>
                </a:solidFill>
                <a:latin typeface="Noto Serif"/>
              </a:rPr>
              <a:t>Classify web content as age-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7100" y="3893820"/>
            <a:ext cx="165988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6" sz="1000">
                <a:solidFill>
                  <a:srgbClr val="1F2937"/>
                </a:solidFill>
                <a:latin typeface="Noto Serif"/>
              </a:rPr>
              <a:t>to enforce institutional policy.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6340" y="3865879"/>
            <a:ext cx="1958339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1" sz="1000">
                <a:solidFill>
                  <a:srgbClr val="1F2937"/>
                </a:solidFill>
                <a:latin typeface="Noto Serif"/>
              </a:rPr>
              <a:t>disposable or suspicious domains.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750" y="4075429"/>
            <a:ext cx="161036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9" sz="1000">
                <a:solidFill>
                  <a:srgbClr val="1F2937"/>
                </a:solidFill>
                <a:latin typeface="Noto Serif"/>
              </a:rPr>
              <a:t>appropriate or inappropriate.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" y="4671060"/>
            <a:ext cx="272161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8" sz="800">
                <a:solidFill>
                  <a:srgbClr val="D9E2EC"/>
                </a:solidFill>
                <a:latin typeface="Noto Serif"/>
              </a:rPr>
              <a:t>Outcome: stronger online safety for schools and institutions.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667250"/>
            <a:ext cx="114300" cy="1143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64250" y="2095500"/>
            <a:ext cx="2616200" cy="2355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50" y="1866900"/>
            <a:ext cx="8235950" cy="1403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2368550"/>
            <a:ext cx="400050" cy="393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350" y="2463800"/>
            <a:ext cx="215900" cy="215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7300" y="2844800"/>
            <a:ext cx="114300" cy="120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429000"/>
            <a:ext cx="8229600" cy="140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450" y="3930650"/>
            <a:ext cx="400050" cy="393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350" y="4025900"/>
            <a:ext cx="215900" cy="215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7300" y="4406900"/>
            <a:ext cx="114300" cy="120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49250"/>
            <a:ext cx="142621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3" b="1" sz="900">
                <a:solidFill>
                  <a:srgbClr val="5EEAD4"/>
                </a:solidFill>
                <a:latin typeface="Noto Serif"/>
              </a:rPr>
              <a:t>SECURE ACCESS CONTROL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6740"/>
            <a:ext cx="1865630" cy="317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00" b="1" sz="2500">
                <a:solidFill>
                  <a:srgbClr val="FFFFFF"/>
                </a:solidFill>
                <a:latin typeface="Noto Serif"/>
              </a:rPr>
              <a:t>Methodology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980440"/>
            <a:ext cx="48602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9" sz="1100">
                <a:solidFill>
                  <a:srgbClr val="D9E2EC"/>
                </a:solidFill>
                <a:latin typeface="Noto Serif"/>
              </a:rPr>
              <a:t>A policy-driven pipeline turns requests and email signals into auditable access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170940"/>
            <a:ext cx="6311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0" sz="1100">
                <a:solidFill>
                  <a:srgbClr val="D9E2EC"/>
                </a:solidFill>
                <a:latin typeface="Noto Serif"/>
              </a:rPr>
              <a:t>decisions.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7300" y="2195830"/>
            <a:ext cx="169926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9" b="1" sz="1400">
                <a:solidFill>
                  <a:srgbClr val="0B1F3A"/>
                </a:solidFill>
                <a:latin typeface="Noto Serif"/>
              </a:rPr>
              <a:t>Content Enforcement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4190" y="2338070"/>
            <a:ext cx="45465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b="1" sz="800">
                <a:solidFill>
                  <a:srgbClr val="64748B"/>
                </a:solidFill>
                <a:latin typeface="Noto Serif"/>
              </a:rPr>
              <a:t>DECISION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7300" y="2446020"/>
            <a:ext cx="64516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6" sz="1000">
                <a:solidFill>
                  <a:srgbClr val="1F2937"/>
                </a:solidFill>
                <a:latin typeface="Noto Serif"/>
              </a:rPr>
              <a:t>Collect requests from browser and email-entry points, classify them by URL, category, and page text, then compare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7300" y="2598420"/>
            <a:ext cx="210947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5" sz="1000">
                <a:solidFill>
                  <a:srgbClr val="1F2937"/>
                </a:solidFill>
                <a:latin typeface="Noto Serif"/>
              </a:rPr>
              <a:t>them with age-based access policies.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4190" y="2523490"/>
            <a:ext cx="59816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8" b="1" sz="1100">
                <a:solidFill>
                  <a:srgbClr val="0B1F3A"/>
                </a:solidFill>
                <a:latin typeface="Noto Serif"/>
              </a:rPr>
              <a:t>Auditable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8750" y="2852420"/>
            <a:ext cx="312927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6" b="1" sz="800">
                <a:solidFill>
                  <a:srgbClr val="0F766E"/>
                </a:solidFill>
                <a:latin typeface="Noto Serif"/>
              </a:rPr>
              <a:t>Firewall outcome: allow, block, or warn — with every decision logged.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7300" y="3749040"/>
            <a:ext cx="140843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9" b="1" sz="1400">
                <a:solidFill>
                  <a:srgbClr val="0B1F3A"/>
                </a:solidFill>
                <a:latin typeface="Noto Serif"/>
              </a:rPr>
              <a:t>Email Verification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7300" y="4008120"/>
            <a:ext cx="645795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4" sz="1000">
                <a:solidFill>
                  <a:srgbClr val="1F2937"/>
                </a:solidFill>
                <a:latin typeface="Noto Serif"/>
              </a:rPr>
              <a:t>Validate domains through DNS and MX records, then flag disposable domains and suspicious registration patterns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4190" y="3976370"/>
            <a:ext cx="35686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0" b="1" sz="800">
                <a:solidFill>
                  <a:srgbClr val="64748B"/>
                </a:solidFill>
                <a:latin typeface="Noto Serif"/>
              </a:rPr>
              <a:t>SIGNAL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7300" y="4160520"/>
            <a:ext cx="138938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" sz="1000">
                <a:solidFill>
                  <a:srgbClr val="1F2937"/>
                </a:solidFill>
                <a:latin typeface="Noto Serif"/>
              </a:rPr>
              <a:t>before access is trusted.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4190" y="4161790"/>
            <a:ext cx="49148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6" b="1" sz="1100">
                <a:solidFill>
                  <a:srgbClr val="0B1F3A"/>
                </a:solidFill>
                <a:latin typeface="Noto Serif"/>
              </a:rPr>
              <a:t>Verified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8750" y="4414520"/>
            <a:ext cx="229997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7" b="1" sz="800">
                <a:solidFill>
                  <a:srgbClr val="B45309"/>
                </a:solidFill>
                <a:latin typeface="Noto Serif"/>
              </a:rPr>
              <a:t>Risk signals are retained for administrative review.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6550" y="2044700"/>
            <a:ext cx="819150" cy="1041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6550" y="3606800"/>
            <a:ext cx="81915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50" y="1752600"/>
            <a:ext cx="3549650" cy="3041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650" y="2000250"/>
            <a:ext cx="203200" cy="203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1746250"/>
            <a:ext cx="4337050" cy="304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0100" y="2673350"/>
            <a:ext cx="152400" cy="158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0100" y="3181350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0100" y="3835400"/>
            <a:ext cx="152400" cy="158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377190"/>
            <a:ext cx="119507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6" b="1" sz="900">
                <a:solidFill>
                  <a:srgbClr val="7DD3FC"/>
                </a:solidFill>
                <a:latin typeface="Noto Serif"/>
              </a:rPr>
              <a:t>EXPECTED OUTCOMES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4680"/>
            <a:ext cx="4418330" cy="317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7" b="1" sz="2500">
                <a:solidFill>
                  <a:srgbClr val="ECEFF3"/>
                </a:solidFill>
                <a:latin typeface="Noto Serif"/>
              </a:rPr>
              <a:t>Safer access. Stronger control.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09650"/>
            <a:ext cx="402082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0" sz="1100">
                <a:solidFill>
                  <a:srgbClr val="98A2B3"/>
                </a:solidFill>
                <a:latin typeface="Noto Serif"/>
              </a:rPr>
              <a:t>A practical foundation for trusted, age-appropriate digital access.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960" y="2052320"/>
            <a:ext cx="57150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b="1" sz="800">
                <a:solidFill>
                  <a:srgbClr val="98A2B3"/>
                </a:solidFill>
                <a:latin typeface="Noto Serif"/>
              </a:rPr>
              <a:t>THE RESULT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2377440"/>
            <a:ext cx="112141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9" b="1" sz="900">
                <a:solidFill>
                  <a:srgbClr val="0B1F3A"/>
                </a:solidFill>
                <a:latin typeface="Noto Serif"/>
              </a:rPr>
              <a:t>What institutions gain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6800" y="2686050"/>
            <a:ext cx="150113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2" b="1" sz="1100">
                <a:solidFill>
                  <a:srgbClr val="0B1F3A"/>
                </a:solidFill>
                <a:latin typeface="Noto Serif"/>
              </a:rPr>
              <a:t>Age-appropriate access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800" y="2882900"/>
            <a:ext cx="219837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4" sz="900">
                <a:solidFill>
                  <a:srgbClr val="1F2937"/>
                </a:solidFill>
                <a:latin typeface="Noto Serif"/>
              </a:rPr>
              <a:t>Safer pathways to trusted online resources.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" y="2851150"/>
            <a:ext cx="7239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29" b="1" sz="2400">
                <a:solidFill>
                  <a:srgbClr val="ECEFF3"/>
                </a:solidFill>
                <a:latin typeface="Noto Serif"/>
              </a:rPr>
              <a:t>Safer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" y="3155950"/>
            <a:ext cx="13970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63" b="1" sz="2400">
                <a:solidFill>
                  <a:srgbClr val="7DD3FC"/>
                </a:solidFill>
                <a:latin typeface="Noto Serif"/>
              </a:rPr>
              <a:t>by design.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6800" y="3181350"/>
            <a:ext cx="162940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4" b="1" sz="1100">
                <a:solidFill>
                  <a:srgbClr val="0B1F3A"/>
                </a:solidFill>
                <a:latin typeface="Noto Serif"/>
              </a:rPr>
              <a:t>Stronger threat protection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3387090"/>
            <a:ext cx="3256279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3" sz="900">
                <a:solidFill>
                  <a:srgbClr val="1F2937"/>
                </a:solidFill>
                <a:latin typeface="Noto Serif"/>
              </a:rPr>
              <a:t>Better defense against harmful content and fake email domains.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" y="3569970"/>
            <a:ext cx="230759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0" sz="1000">
                <a:solidFill>
                  <a:srgbClr val="CBD5E1"/>
                </a:solidFill>
                <a:latin typeface="Noto Serif"/>
              </a:rPr>
              <a:t>Protection becomes visible, enforceable,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850" y="3741420"/>
            <a:ext cx="105537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2" sz="1000">
                <a:solidFill>
                  <a:srgbClr val="CBD5E1"/>
                </a:solidFill>
                <a:latin typeface="Noto Serif"/>
              </a:rPr>
              <a:t>and easier to trust.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0" y="3837940"/>
            <a:ext cx="171195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7" b="1" sz="1100">
                <a:solidFill>
                  <a:srgbClr val="0B1F3A"/>
                </a:solidFill>
                <a:latin typeface="Noto Serif"/>
              </a:rPr>
              <a:t>Clearer institutional control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800" y="4044950"/>
            <a:ext cx="2513329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8" sz="900">
                <a:solidFill>
                  <a:srgbClr val="1F2937"/>
                </a:solidFill>
                <a:latin typeface="Noto Serif"/>
              </a:rPr>
              <a:t>More visibility and consistent policy enforcement.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500" y="4533900"/>
            <a:ext cx="520700" cy="19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